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6"/>
  </p:notesMasterIdLst>
  <p:sldIdLst>
    <p:sldId id="317" r:id="rId2"/>
    <p:sldId id="2105" r:id="rId3"/>
    <p:sldId id="2071" r:id="rId4"/>
    <p:sldId id="2106" r:id="rId5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0A97B2-BEE1-40A8-8CC3-C146CCFB2EBB}">
          <p14:sldIdLst>
            <p14:sldId id="317"/>
            <p14:sldId id="2105"/>
            <p14:sldId id="2071"/>
            <p14:sldId id="21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272692294" name="LY。" initials="L" lastIdx="1" clrIdx="8"/>
  <p:cmAuthor id="7" name="Lillian Tong 童丽媛" initials="LT童" lastIdx="1" clrIdx="6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569" autoAdjust="0"/>
  </p:normalViewPr>
  <p:slideViewPr>
    <p:cSldViewPr snapToGrid="0" showGuides="1">
      <p:cViewPr>
        <p:scale>
          <a:sx n="33" d="100"/>
          <a:sy n="33" d="100"/>
        </p:scale>
        <p:origin x="1748" y="920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942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4759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7467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7467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GSEDS_d46a6755_284ecd33_1_7">
            <a:extLst>
              <a:ext uri="{FF2B5EF4-FFF2-40B4-BE49-F238E27FC236}">
                <a16:creationId xmlns:a16="http://schemas.microsoft.com/office/drawing/2014/main" id="{B59A1469-A2E6-436F-BA85-2DEED4982116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2026-06-12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4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AFFB2235-96E4-4474-A245-DC13F7D698D5}"/>
              </a:ext>
            </a:extLst>
          </p:cNvPr>
          <p:cNvSpPr txBox="1"/>
          <p:nvPr/>
        </p:nvSpPr>
        <p:spPr>
          <a:xfrm>
            <a:off x="1719784" y="1501252"/>
            <a:ext cx="7424216" cy="478777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1483518" cy="369332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方案</a:t>
            </a:r>
            <a:r>
              <a:rPr lang="en-US" altLang="zh-CN">
                <a:solidFill>
                  <a:schemeClr val="tx1"/>
                </a:solidFill>
              </a:rPr>
              <a:t>-</a:t>
            </a:r>
            <a:r>
              <a:rPr lang="zh-CN" altLang="en-US">
                <a:solidFill>
                  <a:schemeClr val="tx1"/>
                </a:solidFill>
              </a:rPr>
              <a:t>软件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zh-CN" altLang="en-US" sz="1600" dirty="0">
                <a:solidFill>
                  <a:prstClr val="black"/>
                </a:solidFill>
              </a:rPr>
              <a:t>内训覆盖</a:t>
            </a:r>
            <a:r>
              <a:rPr lang="en-US" altLang="zh-CN" sz="1600" dirty="0">
                <a:solidFill>
                  <a:srgbClr val="FF0000"/>
                </a:solidFill>
              </a:rPr>
              <a:t>42%,XXX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FAC5E9-0844-4310-BCC3-3386249883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625" y="754613"/>
            <a:ext cx="1778140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H2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541430" y="1177075"/>
            <a:ext cx="3071634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极客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能力地图内</a:t>
            </a: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训进展表格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A840C5C-E881-4779-B2EF-6321146D0820}"/>
              </a:ext>
            </a:extLst>
          </p:cNvPr>
          <p:cNvSpPr txBox="1"/>
          <p:nvPr/>
        </p:nvSpPr>
        <p:spPr>
          <a:xfrm>
            <a:off x="6824271" y="1659169"/>
            <a:ext cx="375794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5A7BC3B-8242-4878-B6B3-679855866C37}"/>
              </a:ext>
            </a:extLst>
          </p:cNvPr>
          <p:cNvSpPr txBox="1"/>
          <p:nvPr/>
        </p:nvSpPr>
        <p:spPr>
          <a:xfrm>
            <a:off x="0" y="6446941"/>
            <a:ext cx="4163961" cy="24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52400" algn="l">
              <a:lnSpc>
                <a:spcPct val="125000"/>
              </a:lnSpc>
            </a:pP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说明：</a:t>
            </a:r>
            <a:r>
              <a:rPr lang="zh-CN" altLang="en-US" sz="800" b="1" dirty="0">
                <a:solidFill>
                  <a:srgbClr val="C0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学习完成率</a:t>
            </a:r>
            <a:r>
              <a:rPr lang="zh-CN" altLang="zh-CN" sz="800" b="1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为 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</a:t>
            </a:r>
            <a:r>
              <a:rPr lang="en-US" altLang="zh-CN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+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考试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通过人员占</a:t>
            </a:r>
            <a:r>
              <a:rPr lang="zh-CN" altLang="en-US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总课程下发人数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的百分比</a:t>
            </a:r>
            <a:endParaRPr lang="zh-CN" altLang="zh-CN" sz="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004528"/>
              </p:ext>
            </p:extLst>
          </p:nvPr>
        </p:nvGraphicFramePr>
        <p:xfrm>
          <a:off x="375875" y="1622690"/>
          <a:ext cx="3757940" cy="4279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1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1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1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小组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已完成人数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学习完成率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本轮排名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92.86%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90.24%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89.74%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87.5%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84.62%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83.54%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78.26%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77.87%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72.5%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758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58</a:t>
                      </a:r>
                      <a:r>
                        <a:rPr lang="en-US" altLang="zh-CN" sz="1000">
                          <a:latin typeface="微软雅黑"/>
                        </a:rPr>
                        <a:t>4</a:t>
                      </a:r>
                      <a:endParaRPr sz="1000"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50</a:t>
                      </a:r>
                      <a:r>
                        <a:rPr lang="en-US" altLang="zh-CN" sz="1000">
                          <a:latin typeface="微软雅黑"/>
                        </a:rPr>
                        <a:t>7</a:t>
                      </a:r>
                      <a:endParaRPr sz="1000"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86.</a:t>
                      </a:r>
                      <a:r>
                        <a:rPr lang="en-US" altLang="zh-CN" sz="1000">
                          <a:latin typeface="微软雅黑"/>
                        </a:rPr>
                        <a:t>81</a:t>
                      </a:r>
                      <a:r>
                        <a:rPr sz="1000">
                          <a:latin typeface="微软雅黑"/>
                        </a:rPr>
                        <a:t>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4498539" y="162269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latin typeface="微软雅黑"/>
              </a:defRPr>
            </a:pPr>
            <a:r>
              <a:t>本轮学习情况分析</a:t>
            </a:r>
          </a:p>
          <a:p>
            <a:pPr>
              <a:defRPr sz="1000">
                <a:latin typeface="微软雅黑"/>
              </a:defRPr>
            </a:pPr>
            <a:r>
              <a:t>1. 整体情况：本轮总参与人数 588 人，整体完成率 86.56%。</a:t>
            </a:r>
          </a:p>
          <a:p>
            <a:pPr>
              <a:defRPr sz="1000">
                <a:latin typeface="微软雅黑"/>
              </a:defRPr>
            </a:pPr>
            <a:r>
              <a:t>2. 领先小组：前3名为 南洋区（100.0%）、墨西哥区（100.0%）、大洋洲区（100.0%）。</a:t>
            </a:r>
          </a:p>
          <a:p>
            <a:pPr>
              <a:defRPr sz="1000">
                <a:latin typeface="微软雅黑"/>
              </a:defRPr>
            </a:pPr>
            <a:r>
              <a:t>3. 待提升小组：后3名为 西欧区（72.5%）、集成商业务部（66.67%）、产品市场部（0.0%），建议重点跟进未完成人员。</a:t>
            </a:r>
          </a:p>
          <a:p>
            <a:pPr>
              <a:defRPr sz="1000">
                <a:latin typeface="微软雅黑"/>
              </a:defRPr>
            </a:pPr>
            <a:r>
              <a:t>4. 排名提升：英国区（13→9）、国际合作部（7→6）。</a:t>
            </a:r>
          </a:p>
          <a:p>
            <a:pPr>
              <a:defRPr sz="1000">
                <a:latin typeface="微软雅黑"/>
              </a:defRPr>
            </a:pPr>
            <a:r>
              <a:t>5. 排名下滑：巴西区（6→7）、东南亚区（9→10）。</a:t>
            </a:r>
          </a:p>
          <a:p>
            <a:pPr>
              <a:defRPr sz="1000">
                <a:latin typeface="微软雅黑"/>
              </a:defRPr>
            </a:pPr>
            <a:r>
              <a:t>6. 完成率提升：英国区 提升 15.87 个百分点（68.75%→84.62%）。</a:t>
            </a:r>
          </a:p>
        </p:txBody>
      </p:sp>
    </p:spTree>
    <p:extLst>
      <p:ext uri="{BB962C8B-B14F-4D97-AF65-F5344CB8AC3E}">
        <p14:creationId xmlns:p14="http://schemas.microsoft.com/office/powerpoint/2010/main" val="1036996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2407856" cy="369332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</a:t>
            </a:r>
            <a:r>
              <a:rPr lang="en-US" altLang="zh-CN" dirty="0">
                <a:solidFill>
                  <a:schemeClr val="tx1"/>
                </a:solidFill>
              </a:rPr>
              <a:t>-2026</a:t>
            </a:r>
            <a:r>
              <a:rPr lang="zh-CN" altLang="en-US" dirty="0">
                <a:solidFill>
                  <a:schemeClr val="tx1"/>
                </a:solidFill>
              </a:rPr>
              <a:t>极客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FAC5E9-0844-4310-BCC3-3386249883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6015" y="754613"/>
            <a:ext cx="6842134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-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通识能力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圆角矩形 42">
            <a:extLst>
              <a:ext uri="{FF2B5EF4-FFF2-40B4-BE49-F238E27FC236}">
                <a16:creationId xmlns:a16="http://schemas.microsoft.com/office/drawing/2014/main" id="{9C692209-7A94-4186-87C7-59750211C6E6}"/>
              </a:ext>
            </a:extLst>
          </p:cNvPr>
          <p:cNvSpPr/>
          <p:nvPr/>
        </p:nvSpPr>
        <p:spPr>
          <a:xfrm>
            <a:off x="116015" y="1143293"/>
            <a:ext cx="2506536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26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极客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必知必会</a:t>
            </a:r>
            <a:r>
              <a:rPr lang="zh-CN" altLang="en-US" sz="1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学习考核</a:t>
            </a:r>
            <a:r>
              <a:rPr lang="en-US" altLang="zh-CN" sz="1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进展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82A1E07-9669-4C4F-B12E-078DCA0D56AB}"/>
              </a:ext>
            </a:extLst>
          </p:cNvPr>
          <p:cNvSpPr txBox="1"/>
          <p:nvPr/>
        </p:nvSpPr>
        <p:spPr>
          <a:xfrm>
            <a:off x="2396365" y="1133197"/>
            <a:ext cx="1344317" cy="279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152400">
              <a:lnSpc>
                <a:spcPct val="125000"/>
              </a:lnSpc>
              <a:defRPr/>
            </a:pPr>
            <a:r>
              <a:rPr lang="zh-CN" altLang="en-US" sz="7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核截至</a:t>
            </a:r>
            <a:r>
              <a:rPr lang="zh-CN" altLang="en-US" sz="700" b="1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日期为</a:t>
            </a:r>
            <a:r>
              <a:rPr lang="en-US" altLang="zh-CN" sz="1000" b="1">
                <a:solidFill>
                  <a:srgbClr val="FF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6/20</a:t>
            </a:r>
            <a:endParaRPr kumimoji="0" lang="zh-CN" altLang="zh-CN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圆角矩形 42">
            <a:extLst>
              <a:ext uri="{FF2B5EF4-FFF2-40B4-BE49-F238E27FC236}">
                <a16:creationId xmlns:a16="http://schemas.microsoft.com/office/drawing/2014/main" id="{14B13F2E-C034-42BC-921C-D6EEDA9E49DE}"/>
              </a:ext>
            </a:extLst>
          </p:cNvPr>
          <p:cNvSpPr/>
          <p:nvPr/>
        </p:nvSpPr>
        <p:spPr>
          <a:xfrm>
            <a:off x="3601742" y="1152833"/>
            <a:ext cx="2545062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26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极客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-DHIA</a:t>
            </a:r>
            <a:r>
              <a:rPr lang="zh-CN" altLang="en-US" sz="1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软件学习考核</a:t>
            </a:r>
            <a:r>
              <a:rPr lang="en-US" altLang="zh-CN" sz="1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进展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3E98D33-5822-4B96-A48E-5D623F42531B}"/>
              </a:ext>
            </a:extLst>
          </p:cNvPr>
          <p:cNvSpPr txBox="1"/>
          <p:nvPr/>
        </p:nvSpPr>
        <p:spPr>
          <a:xfrm>
            <a:off x="7053948" y="754613"/>
            <a:ext cx="5033553" cy="1142364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本次两项极客培训</a:t>
            </a:r>
            <a:r>
              <a: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</a:rPr>
              <a:t>整体完成率</a:t>
            </a:r>
            <a:r>
              <a:rPr lang="zh-CN" altLang="en-US" sz="1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大部分大区推进较好</a:t>
            </a:r>
            <a:r>
              <a: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1000" b="1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zh-CN" altLang="en-US" sz="1000" b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梯队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</a:rPr>
              <a:t>：南洋，墨西哥，大洋 </a:t>
            </a:r>
            <a:r>
              <a:rPr lang="zh-CN" altLang="en-US" sz="1000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两项考核均</a:t>
            </a:r>
            <a:r>
              <a:rPr lang="en-US" altLang="zh-CN" sz="1000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r>
              <a:rPr lang="zh-CN" altLang="en-US" sz="1000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</a:rPr>
              <a:t>拉美，非洲，国合，欧亚</a:t>
            </a:r>
            <a:r>
              <a:rPr lang="zh-CN" altLang="en-US" sz="1000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等大区整体</a:t>
            </a:r>
            <a:r>
              <a:rPr lang="zh-CN" altLang="en-US" sz="1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表现较好。</a:t>
            </a:r>
            <a:endParaRPr lang="zh-CN" altLang="en-US" sz="1000" b="1" dirty="0">
              <a:solidFill>
                <a:srgbClr val="00B05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b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待</a:t>
            </a:r>
            <a:r>
              <a:rPr lang="zh-CN" altLang="en-US" sz="1000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提升</a:t>
            </a:r>
            <a:r>
              <a:rPr lang="zh-CN" altLang="en-US" sz="1000" b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梯队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</a:rPr>
              <a:t>：西欧区、英国、中东北非、东北欧等需关注进度，最后时间做好冲刺；</a:t>
            </a:r>
            <a:endParaRPr lang="en-US" altLang="zh-CN" sz="1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E9187FF-B1D0-4457-BAE0-8AC3AB5BFCB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26423" y="5661326"/>
            <a:ext cx="6715481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-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行业专精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4B26639-AC3F-4519-9D1E-B462F5CF0B4E}"/>
              </a:ext>
            </a:extLst>
          </p:cNvPr>
          <p:cNvSpPr txBox="1"/>
          <p:nvPr/>
        </p:nvSpPr>
        <p:spPr>
          <a:xfrm>
            <a:off x="5917741" y="1134001"/>
            <a:ext cx="1344316" cy="279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152400">
              <a:lnSpc>
                <a:spcPct val="125000"/>
              </a:lnSpc>
              <a:defRPr/>
            </a:pPr>
            <a:r>
              <a:rPr lang="zh-CN" altLang="en-US" sz="7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核截至日期为</a:t>
            </a:r>
            <a:r>
              <a:rPr lang="en-US" altLang="zh-CN" sz="1000" b="1" dirty="0">
                <a:solidFill>
                  <a:srgbClr val="FF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6/20</a:t>
            </a:r>
            <a:endParaRPr kumimoji="0" lang="zh-CN" altLang="zh-CN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圆角矩形 42">
            <a:extLst>
              <a:ext uri="{FF2B5EF4-FFF2-40B4-BE49-F238E27FC236}">
                <a16:creationId xmlns:a16="http://schemas.microsoft.com/office/drawing/2014/main" id="{56CC4CDF-5F2E-42A3-A0D8-D43814BF247F}"/>
              </a:ext>
            </a:extLst>
          </p:cNvPr>
          <p:cNvSpPr/>
          <p:nvPr/>
        </p:nvSpPr>
        <p:spPr>
          <a:xfrm>
            <a:off x="510842" y="6162703"/>
            <a:ext cx="1488747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9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BDM/</a:t>
            </a:r>
            <a:r>
              <a:rPr lang="zh-CN" altLang="en-US" sz="9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售前主力行业打标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9560C0C-A296-42F6-88F5-89607DA73AB8}"/>
              </a:ext>
            </a:extLst>
          </p:cNvPr>
          <p:cNvSpPr txBox="1"/>
          <p:nvPr/>
        </p:nvSpPr>
        <p:spPr>
          <a:xfrm>
            <a:off x="437177" y="6450559"/>
            <a:ext cx="16388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>
                <a:solidFill>
                  <a:srgbClr val="FF0000"/>
                </a:solidFill>
              </a:rPr>
              <a:t>9</a:t>
            </a:r>
            <a:r>
              <a:rPr lang="zh-CN" altLang="en-US" sz="900" b="1">
                <a:solidFill>
                  <a:srgbClr val="FF0000"/>
                </a:solidFill>
              </a:rPr>
              <a:t>个大区已经完成打标</a:t>
            </a:r>
            <a:r>
              <a:rPr lang="zh-CN" altLang="en-US" sz="900" b="1"/>
              <a:t>，计划</a:t>
            </a:r>
            <a:r>
              <a:rPr lang="en-US" altLang="zh-CN" sz="900" b="1"/>
              <a:t>6</a:t>
            </a:r>
            <a:r>
              <a:rPr lang="zh-CN" altLang="en-US" sz="900" b="1"/>
              <a:t>月</a:t>
            </a:r>
            <a:r>
              <a:rPr lang="en-US" altLang="zh-CN" sz="900" b="1"/>
              <a:t>30</a:t>
            </a:r>
            <a:r>
              <a:rPr lang="zh-CN" altLang="en-US" sz="900" b="1"/>
              <a:t>号前全部完成</a:t>
            </a:r>
            <a:endParaRPr lang="zh-CN" altLang="en-US" sz="900" b="1" dirty="0"/>
          </a:p>
        </p:txBody>
      </p:sp>
      <p:sp>
        <p:nvSpPr>
          <p:cNvPr id="23" name="圆角矩形 42">
            <a:extLst>
              <a:ext uri="{FF2B5EF4-FFF2-40B4-BE49-F238E27FC236}">
                <a16:creationId xmlns:a16="http://schemas.microsoft.com/office/drawing/2014/main" id="{D2A03373-027A-4D55-90ED-8FA07E49CDAE}"/>
              </a:ext>
            </a:extLst>
          </p:cNvPr>
          <p:cNvSpPr/>
          <p:nvPr/>
        </p:nvSpPr>
        <p:spPr>
          <a:xfrm>
            <a:off x="2544740" y="6166294"/>
            <a:ext cx="1733050" cy="24300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个人</a:t>
            </a:r>
            <a:r>
              <a:rPr lang="en-US" altLang="zh-CN" sz="9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DHIA-</a:t>
            </a:r>
            <a:r>
              <a:rPr lang="zh-CN" altLang="en-US" sz="9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行业学习任务下发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F9B29D2-609B-4DA9-8229-8CD83BFC8E7F}"/>
              </a:ext>
            </a:extLst>
          </p:cNvPr>
          <p:cNvSpPr txBox="1"/>
          <p:nvPr/>
        </p:nvSpPr>
        <p:spPr>
          <a:xfrm>
            <a:off x="2458343" y="6450748"/>
            <a:ext cx="1870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/>
              <a:t>6</a:t>
            </a:r>
            <a:r>
              <a:rPr lang="zh-CN" altLang="en-US" sz="900" b="1"/>
              <a:t>月</a:t>
            </a:r>
            <a:r>
              <a:rPr lang="en-US" altLang="zh-CN" sz="900" b="1"/>
              <a:t>30</a:t>
            </a:r>
            <a:r>
              <a:rPr lang="zh-CN" altLang="en-US" sz="900" b="1"/>
              <a:t>日前，完成全部学习任务下发，</a:t>
            </a:r>
            <a:r>
              <a:rPr lang="en-US" altLang="zh-CN" sz="900" b="1"/>
              <a:t>H2</a:t>
            </a:r>
            <a:r>
              <a:rPr lang="zh-CN" altLang="en-US" sz="900" b="1"/>
              <a:t>进一步推进</a:t>
            </a:r>
            <a:r>
              <a:rPr lang="zh-CN" altLang="en-US" sz="900" b="1">
                <a:solidFill>
                  <a:srgbClr val="FF0000"/>
                </a:solidFill>
              </a:rPr>
              <a:t>行业专精化</a:t>
            </a:r>
            <a:endParaRPr lang="zh-CN" altLang="en-US" sz="900" b="1" dirty="0">
              <a:solidFill>
                <a:srgbClr val="FF0000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FC83DCE-06CB-485B-BF20-1FA5B664BC1A}"/>
              </a:ext>
            </a:extLst>
          </p:cNvPr>
          <p:cNvSpPr txBox="1"/>
          <p:nvPr/>
        </p:nvSpPr>
        <p:spPr>
          <a:xfrm>
            <a:off x="1496779" y="5159279"/>
            <a:ext cx="5526326" cy="483337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en-US" altLang="zh-CN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DHIA-</a:t>
            </a:r>
            <a:r>
              <a:rPr lang="zh-CN" altLang="en-US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行业专精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围绕个人实际工作方向，打造行业深入理解：行业背景应知应会；大华方案能力；大华项目产品</a:t>
            </a:r>
            <a:r>
              <a: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rPr>
              <a:t>能力。</a:t>
            </a:r>
            <a:r>
              <a: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rPr>
              <a:t>客户</a:t>
            </a:r>
            <a:r>
              <a:rPr lang="zh-CN" altLang="en-US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营销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：全量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NP+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深耕型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NSI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培训落地</a:t>
            </a:r>
          </a:p>
        </p:txBody>
      </p:sp>
      <p:sp>
        <p:nvSpPr>
          <p:cNvPr id="26" name="圆角矩形 42">
            <a:extLst>
              <a:ext uri="{FF2B5EF4-FFF2-40B4-BE49-F238E27FC236}">
                <a16:creationId xmlns:a16="http://schemas.microsoft.com/office/drawing/2014/main" id="{252FE1DD-6278-4465-8522-10CFC7C11F3A}"/>
              </a:ext>
            </a:extLst>
          </p:cNvPr>
          <p:cNvSpPr/>
          <p:nvPr/>
        </p:nvSpPr>
        <p:spPr>
          <a:xfrm>
            <a:off x="4849404" y="6157823"/>
            <a:ext cx="1793010" cy="24300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个人学习完成</a:t>
            </a:r>
            <a:r>
              <a:rPr lang="en-US" altLang="zh-CN" sz="9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9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客户培训落地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314127F-257E-492F-BD65-580115BFE374}"/>
              </a:ext>
            </a:extLst>
          </p:cNvPr>
          <p:cNvSpPr txBox="1"/>
          <p:nvPr/>
        </p:nvSpPr>
        <p:spPr>
          <a:xfrm>
            <a:off x="4795585" y="6459978"/>
            <a:ext cx="1793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FF0000"/>
                </a:solidFill>
              </a:rPr>
              <a:t>12</a:t>
            </a:r>
            <a:r>
              <a:rPr lang="zh-CN" altLang="en-US" sz="900" b="1" dirty="0">
                <a:solidFill>
                  <a:srgbClr val="FF0000"/>
                </a:solidFill>
              </a:rPr>
              <a:t>月</a:t>
            </a:r>
            <a:r>
              <a:rPr lang="en-US" altLang="zh-CN" sz="900" b="1">
                <a:solidFill>
                  <a:srgbClr val="FF0000"/>
                </a:solidFill>
              </a:rPr>
              <a:t>31</a:t>
            </a:r>
            <a:r>
              <a:rPr lang="zh-CN" altLang="en-US" sz="900" b="1">
                <a:solidFill>
                  <a:srgbClr val="FF0000"/>
                </a:solidFill>
              </a:rPr>
              <a:t>日前</a:t>
            </a:r>
            <a:r>
              <a:rPr lang="zh-CN" altLang="en-US" sz="900" b="1"/>
              <a:t>完成内部专精考核</a:t>
            </a:r>
            <a:r>
              <a:rPr lang="en-US" altLang="zh-CN" sz="900" b="1"/>
              <a:t>+</a:t>
            </a:r>
            <a:r>
              <a:rPr lang="zh-CN" altLang="en-US" sz="900" b="1"/>
              <a:t>客户覆盖价值传递</a:t>
            </a:r>
            <a:r>
              <a:rPr lang="zh-CN" altLang="en-US" sz="900" b="1">
                <a:solidFill>
                  <a:srgbClr val="FF0000"/>
                </a:solidFill>
              </a:rPr>
              <a:t>（掘金</a:t>
            </a:r>
            <a:r>
              <a:rPr lang="en-US" altLang="zh-CN" sz="900" b="1">
                <a:solidFill>
                  <a:srgbClr val="FF0000"/>
                </a:solidFill>
              </a:rPr>
              <a:t>2.0</a:t>
            </a:r>
            <a:r>
              <a:rPr lang="zh-CN" altLang="en-US" sz="900" b="1">
                <a:solidFill>
                  <a:srgbClr val="FF0000"/>
                </a:solidFill>
              </a:rPr>
              <a:t>）</a:t>
            </a:r>
            <a:endParaRPr lang="zh-CN" altLang="en-US" sz="900" b="1" dirty="0">
              <a:solidFill>
                <a:srgbClr val="FF0000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078048A-28A0-4F38-B28D-1C8AD2B01489}"/>
              </a:ext>
            </a:extLst>
          </p:cNvPr>
          <p:cNvSpPr txBox="1"/>
          <p:nvPr/>
        </p:nvSpPr>
        <p:spPr>
          <a:xfrm>
            <a:off x="2943118" y="157281"/>
            <a:ext cx="73438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1.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必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知必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会（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84.01%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）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+DHIA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软件（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86.81%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）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，整体</a:t>
            </a:r>
            <a:r>
              <a:rPr lang="zh-CN" altLang="en-US" sz="1200" b="1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学习考核较好；</a:t>
            </a:r>
            <a:r>
              <a:rPr lang="zh-CN" altLang="en-US" sz="12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南洋，墨西哥，大洋，拉美等</a:t>
            </a:r>
            <a:r>
              <a:rPr lang="zh-CN" altLang="en-US" sz="1200" b="1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相对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进展达成</a:t>
            </a:r>
            <a:r>
              <a:rPr lang="zh-CN" altLang="en-US" sz="1200" b="1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较好。</a:t>
            </a:r>
            <a:r>
              <a:rPr lang="en-US" altLang="zh-CN" sz="1200" b="1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2.</a:t>
            </a:r>
            <a:r>
              <a:rPr lang="zh-CN" altLang="en-US" sz="1200" b="1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全新</a:t>
            </a:r>
            <a:r>
              <a:rPr lang="en-US" altLang="zh-CN" sz="1200" b="1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26</a:t>
            </a:r>
            <a:r>
              <a:rPr lang="zh-CN" altLang="en-US" sz="1200" b="1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年 </a:t>
            </a:r>
            <a:r>
              <a:rPr lang="en-US" altLang="zh-CN" sz="12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DHIA</a:t>
            </a:r>
            <a:r>
              <a:rPr lang="zh-CN" altLang="en-US" sz="12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课程上线，全新</a:t>
            </a:r>
            <a:r>
              <a:rPr lang="en-US" altLang="zh-CN" sz="12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26</a:t>
            </a:r>
            <a:r>
              <a:rPr lang="zh-CN" altLang="en-US" sz="12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年全量能力地图发布。</a:t>
            </a:r>
            <a:endParaRPr lang="en-US" altLang="zh-CN" sz="1200" b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0426B4E-0525-410C-8C2C-F086F10ADB43}"/>
              </a:ext>
            </a:extLst>
          </p:cNvPr>
          <p:cNvSpPr txBox="1"/>
          <p:nvPr/>
        </p:nvSpPr>
        <p:spPr>
          <a:xfrm>
            <a:off x="7158447" y="1928876"/>
            <a:ext cx="5033553" cy="2758191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</a:rPr>
              <a:t>NP</a:t>
            </a:r>
            <a:r>
              <a: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</a:rPr>
              <a:t>客户</a:t>
            </a:r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</a:rPr>
              <a:t>方案培训覆盖整体情况</a:t>
            </a:r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</a:rPr>
              <a:t>含 极客</a:t>
            </a:r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</a:rPr>
              <a:t>/DHIA</a:t>
            </a:r>
            <a:r>
              <a: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</a:rPr>
              <a:t>/DHIA</a:t>
            </a:r>
            <a:r>
              <a: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</a:rPr>
              <a:t>软件</a:t>
            </a:r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</a:rPr>
              <a:t>/TGTB</a:t>
            </a:r>
            <a:r>
              <a: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</a:rPr>
              <a:t>方案 等 课程</a:t>
            </a:r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0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0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已覆盖比例目前最高为 中东北非区（</a:t>
            </a:r>
            <a:r>
              <a:rPr lang="en-US" altLang="zh-CN" sz="10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22.00%</a:t>
            </a:r>
            <a:r>
              <a:rPr lang="zh-CN" altLang="en-US" sz="10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）；</a:t>
            </a:r>
            <a:r>
              <a:rPr lang="en-US" altLang="zh-CN" sz="10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进展</a:t>
            </a:r>
            <a:r>
              <a:rPr lang="zh-CN" altLang="en-US" sz="10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较为良好大区巴西区（</a:t>
            </a:r>
            <a:r>
              <a:rPr lang="en-US" altLang="zh-CN" sz="10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15.79%</a:t>
            </a:r>
            <a:r>
              <a:rPr lang="zh-CN" altLang="en-US" sz="10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），非洲大区（</a:t>
            </a:r>
            <a:r>
              <a:rPr lang="en-US" altLang="zh-CN" sz="1000">
                <a:latin typeface="微软雅黑"/>
              </a:rPr>
              <a:t>16.67</a:t>
            </a:r>
            <a:r>
              <a:rPr lang="en-US" altLang="zh-CN" sz="10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zh-CN" altLang="en-US" sz="10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），拉美大区（</a:t>
            </a:r>
            <a:r>
              <a:rPr lang="en-US" altLang="zh-CN" sz="1000">
                <a:latin typeface="微软雅黑"/>
              </a:rPr>
              <a:t>12.96%</a:t>
            </a:r>
            <a:r>
              <a:rPr lang="zh-CN" altLang="en-US" sz="10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）；其它大区需关注重点和推进；</a:t>
            </a:r>
          </a:p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0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0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软件</a:t>
            </a:r>
            <a:r>
              <a:rPr lang="en-US" altLang="zh-CN" sz="10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DHIA</a:t>
            </a:r>
            <a:r>
              <a:rPr lang="zh-CN" altLang="en-US" sz="10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对外的课程已经上线，各大区可安排客户覆盖，如果要拿软件激励，大区</a:t>
            </a:r>
            <a:r>
              <a:rPr lang="en-US" altLang="zh-CN" sz="10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NP/NSI DHIA</a:t>
            </a:r>
            <a:r>
              <a:rPr lang="zh-CN" altLang="en-US" sz="10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软件培训覆盖需超过</a:t>
            </a:r>
            <a:r>
              <a:rPr lang="en-US" altLang="zh-CN" sz="10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70%</a:t>
            </a:r>
            <a:r>
              <a:rPr lang="zh-CN" altLang="en-US" sz="10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，后续也会作为一个观察项每月晾晒；</a:t>
            </a:r>
            <a:endParaRPr lang="en-US" altLang="zh-CN" sz="100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1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</a:t>
            </a:r>
            <a:r>
              <a:rPr lang="zh-CN" altLang="en-US" sz="1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</a:t>
            </a:r>
            <a:r>
              <a:rPr lang="en-US" altLang="zh-CN" sz="1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1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lang="en-US" altLang="zh-CN" sz="1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sz="1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年最新</a:t>
            </a:r>
            <a:r>
              <a:rPr lang="en-US" altLang="zh-CN" sz="1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DHIA</a:t>
            </a:r>
            <a:r>
              <a:rPr lang="zh-CN" altLang="en-US" sz="1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课程，内网</a:t>
            </a:r>
            <a:r>
              <a:rPr lang="en-US" altLang="zh-CN" sz="1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elearnings/</a:t>
            </a:r>
            <a:r>
              <a:rPr lang="zh-CN" altLang="en-US" sz="1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官网已上线，</a:t>
            </a:r>
            <a:r>
              <a:rPr lang="en-US" altLang="zh-CN" sz="1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sz="1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zh-CN" altLang="en-US" sz="1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</a:t>
            </a:r>
            <a:r>
              <a:rPr lang="en-US" altLang="zh-CN" sz="1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能源</a:t>
            </a:r>
            <a:r>
              <a:rPr lang="en-US" altLang="zh-CN" sz="1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油气，安保服务，交管</a:t>
            </a:r>
            <a:r>
              <a:rPr lang="en-US" altLang="zh-CN" sz="1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信控，智慧城市，交通</a:t>
            </a:r>
            <a:r>
              <a:rPr lang="en-US" altLang="zh-CN" sz="1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车载，软件 等全新</a:t>
            </a:r>
            <a:r>
              <a:rPr lang="en-US" altLang="zh-CN" sz="1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DHIA</a:t>
            </a:r>
            <a:r>
              <a:rPr lang="zh-CN" altLang="en-US" sz="1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zh-CN" altLang="en-US" sz="1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0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100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完成全量能力地图</a:t>
            </a:r>
            <a:r>
              <a:rPr lang="en-US" altLang="zh-CN" sz="100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sz="100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年版本，更新安保服务，运营商等内容，</a:t>
            </a:r>
            <a:r>
              <a:rPr lang="zh-CN" altLang="en-US" sz="10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另外每个行业能力地图</a:t>
            </a:r>
            <a:r>
              <a:rPr lang="zh-CN" altLang="en-US" sz="1000" b="1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新增</a:t>
            </a:r>
            <a:r>
              <a:rPr lang="en-US" altLang="zh-CN" sz="1000" b="1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000" b="1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方案成熟度内容，</a:t>
            </a:r>
            <a:r>
              <a:rPr lang="zh-CN" altLang="en-US" sz="10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有效明确行业各个方案落地特点主要地和交付难度，下载链接：</a:t>
            </a:r>
            <a:r>
              <a:rPr lang="en-US" altLang="zh-CN" sz="100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https://gks1.dahuasecurity.com/zh/parcel?category_id=271249</a:t>
            </a:r>
          </a:p>
        </p:txBody>
      </p:sp>
      <p:graphicFrame>
        <p:nvGraphicFramePr>
          <p:cNvPr id="31" name="Table 62">
            <a:extLst>
              <a:ext uri="{FF2B5EF4-FFF2-40B4-BE49-F238E27FC236}">
                <a16:creationId xmlns:a16="http://schemas.microsoft.com/office/drawing/2014/main" id="{5206C57B-BF20-47EB-A363-7A14D66FC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597052"/>
              </p:ext>
            </p:extLst>
          </p:nvPr>
        </p:nvGraphicFramePr>
        <p:xfrm>
          <a:off x="3563415" y="1452120"/>
          <a:ext cx="3378489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3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56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56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56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6541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微软雅黑"/>
                        </a:rPr>
                        <a:t>小组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微软雅黑"/>
                        </a:rPr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微软雅黑"/>
                        </a:rPr>
                        <a:t>完成人数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微软雅黑"/>
                        </a:rPr>
                        <a:t>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微软雅黑"/>
                        </a:rPr>
                        <a:t>本轮排名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14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14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714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714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714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/>
                        </a:rPr>
                        <a:t>92.86%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435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/>
                        </a:rPr>
                        <a:t>90.24%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714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/>
                        </a:rPr>
                        <a:t>89.74%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714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/>
                        </a:rPr>
                        <a:t>87.5%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714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/>
                        </a:rPr>
                        <a:t>84.62%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714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/>
                        </a:rPr>
                        <a:t>83.54%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714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/>
                        </a:rPr>
                        <a:t>78.26%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200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/>
                        </a:rPr>
                        <a:t>77.87%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714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/>
                        </a:rPr>
                        <a:t>72.5%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714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58</a:t>
                      </a:r>
                      <a:r>
                        <a:rPr lang="en-US" altLang="zh-CN" sz="900">
                          <a:latin typeface="微软雅黑"/>
                        </a:rPr>
                        <a:t>4</a:t>
                      </a:r>
                      <a:endParaRPr sz="900"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50</a:t>
                      </a:r>
                      <a:r>
                        <a:rPr lang="en-US" altLang="zh-CN" sz="900">
                          <a:latin typeface="微软雅黑"/>
                        </a:rPr>
                        <a:t>7</a:t>
                      </a:r>
                      <a:endParaRPr sz="900"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/>
                        </a:rPr>
                        <a:t>86.</a:t>
                      </a:r>
                      <a:r>
                        <a:rPr lang="en-US" altLang="zh-CN" sz="900" b="1">
                          <a:latin typeface="微软雅黑"/>
                        </a:rPr>
                        <a:t>81</a:t>
                      </a:r>
                      <a:r>
                        <a:rPr sz="900" b="1">
                          <a:latin typeface="微软雅黑"/>
                        </a:rPr>
                        <a:t>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32" name="Table 62">
            <a:extLst>
              <a:ext uri="{FF2B5EF4-FFF2-40B4-BE49-F238E27FC236}">
                <a16:creationId xmlns:a16="http://schemas.microsoft.com/office/drawing/2014/main" id="{18919E81-58B6-402C-A625-ACF2022D32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574773"/>
              </p:ext>
            </p:extLst>
          </p:nvPr>
        </p:nvGraphicFramePr>
        <p:xfrm>
          <a:off x="120543" y="1465621"/>
          <a:ext cx="3245679" cy="36610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9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9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1932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微软雅黑"/>
                        </a:rPr>
                        <a:t>小组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微软雅黑"/>
                        </a:rPr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微软雅黑"/>
                        </a:rPr>
                        <a:t>完成人数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微软雅黑"/>
                        </a:rPr>
                        <a:t>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微软雅黑"/>
                        </a:rPr>
                        <a:t>本轮排名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163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163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163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163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/>
                        </a:rPr>
                        <a:t>94.64%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163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/>
                        </a:rPr>
                        <a:t>92.86%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163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/>
                        </a:rPr>
                        <a:t>89.13%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259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/>
                        </a:rPr>
                        <a:t>87.8%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0163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/>
                        </a:rPr>
                        <a:t>87.5%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0163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/>
                        </a:rPr>
                        <a:t>82.05%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0163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/>
                        </a:rPr>
                        <a:t>80.25%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2259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/>
                        </a:rPr>
                        <a:t>74.4%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0163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/>
                        </a:rPr>
                        <a:t>72.73%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0163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/>
                        </a:rPr>
                        <a:t>57.5%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0163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5</a:t>
                      </a:r>
                      <a:r>
                        <a:rPr lang="en-US" altLang="zh-CN" sz="900">
                          <a:latin typeface="微软雅黑"/>
                        </a:rPr>
                        <a:t>88</a:t>
                      </a:r>
                      <a:endParaRPr sz="900"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494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/>
                        </a:rPr>
                        <a:t>8</a:t>
                      </a:r>
                      <a:r>
                        <a:rPr lang="en-US" altLang="zh-CN" sz="900" b="1">
                          <a:latin typeface="微软雅黑"/>
                        </a:rPr>
                        <a:t>4</a:t>
                      </a:r>
                      <a:r>
                        <a:rPr sz="900" b="1">
                          <a:latin typeface="微软雅黑"/>
                        </a:rPr>
                        <a:t>.</a:t>
                      </a:r>
                      <a:r>
                        <a:rPr lang="en-US" altLang="zh-CN" sz="900" b="1">
                          <a:latin typeface="微软雅黑"/>
                        </a:rPr>
                        <a:t>0</a:t>
                      </a:r>
                      <a:r>
                        <a:rPr sz="900" b="1">
                          <a:latin typeface="微软雅黑"/>
                        </a:rPr>
                        <a:t>1%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4" name="箭头: 下 3">
            <a:extLst>
              <a:ext uri="{FF2B5EF4-FFF2-40B4-BE49-F238E27FC236}">
                <a16:creationId xmlns:a16="http://schemas.microsoft.com/office/drawing/2014/main" id="{8E416FE6-6B9F-4883-8F25-FF30BB68D8E4}"/>
              </a:ext>
            </a:extLst>
          </p:cNvPr>
          <p:cNvSpPr/>
          <p:nvPr/>
        </p:nvSpPr>
        <p:spPr>
          <a:xfrm>
            <a:off x="76617" y="5230373"/>
            <a:ext cx="1399272" cy="358469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H2</a:t>
            </a:r>
            <a:r>
              <a:rPr lang="zh-CN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达成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CBA8232-774D-420F-88F1-0A4F8982F1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6769" y="5854201"/>
            <a:ext cx="1673340" cy="94915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53FBE6A-5D13-4EFA-A767-65D0E49828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9523" y="4790226"/>
            <a:ext cx="1673340" cy="94717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A23DCF89-DB04-48D2-8D7B-23ED226FF5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1515" y="4684874"/>
            <a:ext cx="2221610" cy="1155686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324CEC57-17E0-4FA3-B8F8-C0DE2D7C8DBC}"/>
              </a:ext>
            </a:extLst>
          </p:cNvPr>
          <p:cNvSpPr txBox="1"/>
          <p:nvPr/>
        </p:nvSpPr>
        <p:spPr>
          <a:xfrm>
            <a:off x="7059402" y="5053366"/>
            <a:ext cx="1105716" cy="719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700">
                <a:latin typeface="微软雅黑" panose="020B0503020204020204" pitchFamily="34" charset="-122"/>
                <a:ea typeface="微软雅黑" panose="020B0503020204020204" pitchFamily="34" charset="-122"/>
              </a:rPr>
              <a:t>说明：能源</a:t>
            </a:r>
            <a:r>
              <a:rPr lang="en-US" altLang="zh-CN" sz="70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700">
                <a:latin typeface="微软雅黑" panose="020B0503020204020204" pitchFamily="34" charset="-122"/>
                <a:ea typeface="微软雅黑" panose="020B0503020204020204" pitchFamily="34" charset="-122"/>
              </a:rPr>
              <a:t>油气</a:t>
            </a:r>
            <a:r>
              <a:rPr lang="en-US" altLang="zh-CN" sz="7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700">
                <a:latin typeface="微软雅黑" panose="020B0503020204020204" pitchFamily="34" charset="-122"/>
                <a:ea typeface="微软雅黑" panose="020B0503020204020204" pitchFamily="34" charset="-122"/>
              </a:rPr>
              <a:t>安保服务</a:t>
            </a:r>
            <a:r>
              <a:rPr lang="en-US" altLang="zh-CN" sz="7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700">
                <a:latin typeface="微软雅黑" panose="020B0503020204020204" pitchFamily="34" charset="-122"/>
                <a:ea typeface="微软雅黑" panose="020B0503020204020204" pitchFamily="34" charset="-122"/>
              </a:rPr>
              <a:t>交管</a:t>
            </a:r>
            <a:r>
              <a:rPr lang="en-US" altLang="zh-CN" sz="70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700">
                <a:latin typeface="微软雅黑" panose="020B0503020204020204" pitchFamily="34" charset="-122"/>
                <a:ea typeface="微软雅黑" panose="020B0503020204020204" pitchFamily="34" charset="-122"/>
              </a:rPr>
              <a:t>信控</a:t>
            </a:r>
            <a:r>
              <a:rPr lang="en-US" altLang="zh-CN" sz="7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700">
                <a:latin typeface="微软雅黑" panose="020B0503020204020204" pitchFamily="34" charset="-122"/>
                <a:ea typeface="微软雅黑" panose="020B0503020204020204" pitchFamily="34" charset="-122"/>
              </a:rPr>
              <a:t>软件课程  </a:t>
            </a:r>
            <a:r>
              <a:rPr lang="zh-CN" altLang="en-US" sz="7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等全新</a:t>
            </a:r>
            <a:r>
              <a:rPr lang="en-US" altLang="zh-CN" sz="7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DHIA</a:t>
            </a:r>
            <a:r>
              <a:rPr lang="zh-CN" altLang="en-US" sz="7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课程内外部上线</a:t>
            </a:r>
            <a:endParaRPr lang="zh-CN" altLang="en-US" sz="7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00B04F0-25A0-4C41-B43F-C71C8CCD94C6}"/>
              </a:ext>
            </a:extLst>
          </p:cNvPr>
          <p:cNvSpPr txBox="1"/>
          <p:nvPr/>
        </p:nvSpPr>
        <p:spPr>
          <a:xfrm>
            <a:off x="7055587" y="6064916"/>
            <a:ext cx="1162604" cy="558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700">
                <a:latin typeface="微软雅黑" panose="020B0503020204020204" pitchFamily="34" charset="-122"/>
                <a:ea typeface="微软雅黑" panose="020B0503020204020204" pitchFamily="34" charset="-122"/>
              </a:rPr>
              <a:t>说明：</a:t>
            </a:r>
            <a:r>
              <a:rPr lang="en-US" altLang="zh-CN" sz="7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sz="7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年版全量能力地图发布，</a:t>
            </a:r>
            <a:r>
              <a:rPr lang="zh-CN" altLang="en-US" sz="700">
                <a:latin typeface="微软雅黑" panose="020B0503020204020204" pitchFamily="34" charset="-122"/>
                <a:ea typeface="微软雅黑" panose="020B0503020204020204" pitchFamily="34" charset="-122"/>
              </a:rPr>
              <a:t>每个行业新增方案成熟度等内容；</a:t>
            </a:r>
            <a:endParaRPr lang="zh-CN" altLang="en-US" sz="7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02C3C6E9-E696-4ED3-930E-97DB7C764A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4915" y="5892701"/>
            <a:ext cx="1627005" cy="90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433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59">
            <a:extLst>
              <a:ext uri="{FF2B5EF4-FFF2-40B4-BE49-F238E27FC236}">
                <a16:creationId xmlns:a16="http://schemas.microsoft.com/office/drawing/2014/main" id="{7EBE9959-3C11-4BAA-B82C-7DED88547A86}"/>
              </a:ext>
            </a:extLst>
          </p:cNvPr>
          <p:cNvSpPr txBox="1"/>
          <p:nvPr/>
        </p:nvSpPr>
        <p:spPr>
          <a:xfrm>
            <a:off x="169380" y="793663"/>
            <a:ext cx="11838616" cy="4793125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0034133" cy="369332"/>
          </a:xfrm>
        </p:spPr>
        <p:txBody>
          <a:bodyPr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方案-极客行动 | 整体情况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79530" y="918070"/>
            <a:ext cx="3773234" cy="27801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chemeClr val="bg1"/>
                </a:solidFill>
                <a:latin typeface="微软雅黑"/>
              </a:rPr>
              <a:t>客户培训覆盖整体情况</a:t>
            </a:r>
          </a:p>
        </p:txBody>
      </p:sp>
      <p:sp>
        <p:nvSpPr>
          <p:cNvPr id="59" name="横卷形 86">
            <a:extLst>
              <a:ext uri="{FF2B5EF4-FFF2-40B4-BE49-F238E27FC236}">
                <a16:creationId xmlns:a16="http://schemas.microsoft.com/office/drawing/2014/main" id="{07E81FCD-8864-4869-8ABC-92697D30470F}"/>
              </a:ext>
            </a:extLst>
          </p:cNvPr>
          <p:cNvSpPr/>
          <p:nvPr/>
        </p:nvSpPr>
        <p:spPr>
          <a:xfrm>
            <a:off x="125040" y="787214"/>
            <a:ext cx="682680" cy="312798"/>
          </a:xfrm>
          <a:prstGeom prst="horizontalScroll">
            <a:avLst>
              <a:gd name="adj" fmla="val 19161"/>
            </a:avLst>
          </a:prstGeom>
          <a:solidFill>
            <a:srgbClr val="FF0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极客掘金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F59128-F61B-4CF1-8D33-B61278F8EA69}"/>
              </a:ext>
            </a:extLst>
          </p:cNvPr>
          <p:cNvSpPr txBox="1"/>
          <p:nvPr/>
        </p:nvSpPr>
        <p:spPr>
          <a:xfrm>
            <a:off x="7448803" y="884645"/>
            <a:ext cx="4439838" cy="195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sz="1500" b="1">
                <a:solidFill>
                  <a:srgbClr val="C00000"/>
                </a:solidFill>
                <a:latin typeface="微软雅黑"/>
              </a:rPr>
              <a:t>整体关键结论</a:t>
            </a:r>
            <a:endParaRPr kumimoji="0" lang="en-US" altLang="zh-CN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1. 各大区按已覆盖比例排序后，最高为 中东北非区（22.00%），最低为 墨西哥区（0.00%）。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2. 进展较好的大区：中东北非区（22.00%）、非洲区（16.67%）；需重点跟进的大区：英国区（4.00%）、西欧区（3.92%）、大洋洲区（2.56%）。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3. 认证推进最快的大区是 巴西区（47.37%）。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0C9D4A-D8E1-42B1-BC2E-A1B8D74E5C61}"/>
              </a:ext>
            </a:extLst>
          </p:cNvPr>
          <p:cNvSpPr txBox="1"/>
          <p:nvPr/>
        </p:nvSpPr>
        <p:spPr>
          <a:xfrm>
            <a:off x="2834496" y="1237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042811"/>
              </p:ext>
            </p:extLst>
          </p:nvPr>
        </p:nvGraphicFramePr>
        <p:xfrm>
          <a:off x="303358" y="1271212"/>
          <a:ext cx="6595282" cy="4080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2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微软雅黑"/>
                        </a:rPr>
                        <a:t>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微软雅黑"/>
                        </a:rPr>
                        <a:t>NP客户数量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微软雅黑"/>
                        </a:rPr>
                        <a:t>已覆盖个数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微软雅黑"/>
                        </a:rPr>
                        <a:t>已覆盖比例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微软雅黑"/>
                        </a:rPr>
                        <a:t>DHIA认证通过个数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微软雅黑"/>
                        </a:rPr>
                        <a:t>DHIA认证通过比列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22.00%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5.33%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16.67%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12.50%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12.96%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20.37%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latin typeface="微软雅黑"/>
                        </a:rPr>
                        <a:t>3</a:t>
                      </a:r>
                      <a:endParaRPr sz="1050"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latin typeface="微软雅黑"/>
                        </a:rPr>
                        <a:t>15.79%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47.37%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10.39%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2.60%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10.31%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2.06%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8.70%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6.56%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4.00%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3.92%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2.56%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2223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37.50%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5315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59">
            <a:extLst>
              <a:ext uri="{FF2B5EF4-FFF2-40B4-BE49-F238E27FC236}">
                <a16:creationId xmlns:a16="http://schemas.microsoft.com/office/drawing/2014/main" id="{7EBE9959-3C11-4BAA-B82C-7DED88547A86}"/>
              </a:ext>
            </a:extLst>
          </p:cNvPr>
          <p:cNvSpPr txBox="1"/>
          <p:nvPr/>
        </p:nvSpPr>
        <p:spPr>
          <a:xfrm>
            <a:off x="169380" y="793663"/>
            <a:ext cx="11838616" cy="4793125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0034133" cy="369332"/>
          </a:xfrm>
        </p:spPr>
        <p:txBody>
          <a:bodyPr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方案-极客行动 | 整体情况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79530" y="918070"/>
            <a:ext cx="3773234" cy="27801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00000"/>
                </a:solidFill>
                <a:latin typeface="微软雅黑"/>
              </a:rPr>
              <a:t>客户培训覆盖整体情况</a:t>
            </a:r>
          </a:p>
        </p:txBody>
      </p:sp>
      <p:sp>
        <p:nvSpPr>
          <p:cNvPr id="59" name="横卷形 86">
            <a:extLst>
              <a:ext uri="{FF2B5EF4-FFF2-40B4-BE49-F238E27FC236}">
                <a16:creationId xmlns:a16="http://schemas.microsoft.com/office/drawing/2014/main" id="{07E81FCD-8864-4869-8ABC-92697D30470F}"/>
              </a:ext>
            </a:extLst>
          </p:cNvPr>
          <p:cNvSpPr/>
          <p:nvPr/>
        </p:nvSpPr>
        <p:spPr>
          <a:xfrm>
            <a:off x="125040" y="787214"/>
            <a:ext cx="682680" cy="312798"/>
          </a:xfrm>
          <a:prstGeom prst="horizontalScroll">
            <a:avLst>
              <a:gd name="adj" fmla="val 19161"/>
            </a:avLst>
          </a:prstGeom>
          <a:solidFill>
            <a:srgbClr val="FF0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极客掘金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F59128-F61B-4CF1-8D33-B61278F8EA69}"/>
              </a:ext>
            </a:extLst>
          </p:cNvPr>
          <p:cNvSpPr txBox="1"/>
          <p:nvPr/>
        </p:nvSpPr>
        <p:spPr>
          <a:xfrm>
            <a:off x="7448803" y="884645"/>
            <a:ext cx="4439838" cy="195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sz="1500" b="1">
                <a:solidFill>
                  <a:srgbClr val="C00000"/>
                </a:solidFill>
                <a:latin typeface="微软雅黑"/>
              </a:rPr>
              <a:t>整体关键结论</a:t>
            </a:r>
            <a:endParaRPr kumimoji="0" lang="en-US" altLang="zh-CN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1. 各大区按已覆盖比例排序后，最高为 中东北非区（21.33%），最低为 墨西哥区（0.00%）。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2. 进展较好的大区：中东北非区（21.33%）、巴西区（15.79%）；需重点跟进的大区：欧亚区（4.35%）、英国区（4.00%）、西欧区（2.94%）。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3. 认证推进最快的大区是 巴西区（47.37%）。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0C9D4A-D8E1-42B1-BC2E-A1B8D74E5C61}"/>
              </a:ext>
            </a:extLst>
          </p:cNvPr>
          <p:cNvSpPr txBox="1"/>
          <p:nvPr/>
        </p:nvSpPr>
        <p:spPr>
          <a:xfrm>
            <a:off x="2834496" y="1237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03358" y="1271212"/>
          <a:ext cx="6595282" cy="4065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2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NP客户数量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已覆盖个数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已覆盖比例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DHIA认证通过个数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DHIA认证通过比列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21.33%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3.33%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15.79%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47.37%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8.33%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1.30%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9.28%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2.06%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1.85%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4.35%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222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12.50%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85523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15124</TotalTime>
  <Words>1329</Words>
  <Application>Microsoft Office PowerPoint</Application>
  <PresentationFormat>宽屏</PresentationFormat>
  <Paragraphs>448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方案-软件 | 内训覆盖42%,XXX</vt:lpstr>
      <vt:lpstr>方案-2026极客 |</vt:lpstr>
      <vt:lpstr>方案-极客行动 | 整体情况</vt:lpstr>
      <vt:lpstr>方案-极客行动 | 整体情况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512</cp:revision>
  <dcterms:created xsi:type="dcterms:W3CDTF">2025-03-24T01:45:08Z</dcterms:created>
  <dcterms:modified xsi:type="dcterms:W3CDTF">2026-06-12T08:37:03Z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d46a6755_b77b54e0_284ecd33d7a6900929b5e4b865e3ed070f73332f5ed0a54015d8811a363e9351_183ff93ee71b9ca3b4160f3fe01185cff9745fece8c0fb3e0cca5c9f830c224a</vt:lpwstr>
  </property>
  <property fmtid="{D5CDD505-2E9C-101B-9397-08002B2CF9AE}" pid="5" name="GSEDS_HWMT_d46a6755">
    <vt:lpwstr>f2457335_mFV3xD84JCk3PMpOl3v+qT+roEM=_8QYrr15fIzUrXb1P4gKfrrlCuFixJbQLDZi2AqV48m7HJqlKUdbg4YJwzWzuWB7wwef4t7ZrnKzMShpGdjBDRVDXCuo=_be0f3296</vt:lpwstr>
  </property>
</Properties>
</file>