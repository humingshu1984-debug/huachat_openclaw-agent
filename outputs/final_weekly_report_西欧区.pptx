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26" r:id="rId1"/>
  </p:sldMasterIdLst>
  <p:notesMasterIdLst>
    <p:notesMasterId r:id="rId3"/>
  </p:notesMasterIdLst>
  <p:sldIdLst>
    <p:sldId id="317" r:id="rId2"/>
  </p:sldIdLst>
  <p:sldSz cx="12192000" cy="6858000"/>
  <p:notesSz cx="6858000" cy="9144000"/>
  <p:custDataLst>
    <p:tags r:id="rId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F30A97B2-BEE1-40A8-8CC3-C146CCFB2EBB}">
          <p14:sldIdLst>
            <p14:sldId id="317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李晶晶" initials="李晶晶" lastIdx="10" clrIdx="0"/>
  <p:cmAuthor id="7" name="Lillian Tong 童丽媛" initials="LT童" lastIdx="1" clrIdx="6"/>
  <p:cmAuthor id="272692294" name="LY。" initials="L" lastIdx="1" clrIdx="8"/>
  <p:cmAuthor id="1" name="32168" initials="3" lastIdx="2" clrIdx="0"/>
  <p:cmAuthor id="272692295" name="刘俊华1" initials="刘俊华1" lastIdx="1" clrIdx="9"/>
  <p:cmAuthor id="2" name="胡孙辽" initials="胡孙辽" lastIdx="1" clrIdx="1"/>
  <p:cmAuthor id="3" name="Star Chen 陈星1" initials="SC陈" lastIdx="1" clrIdx="2"/>
  <p:cmAuthor id="4" name="Mitchell Derrey" initials="MD" lastIdx="8" clrIdx="4"/>
  <p:cmAuthor id="5" name="NTKO" initials="黄艳灵" lastIdx="8" clrIdx="5"/>
  <p:cmAuthor id="6" name="28583" initials="2" lastIdx="1" clrIdx="5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70915"/>
    <a:srgbClr val="E6E6E6"/>
    <a:srgbClr val="000000"/>
    <a:srgbClr val="FFFFFF"/>
    <a:srgbClr val="5B9BD5"/>
    <a:srgbClr val="DCDCDC"/>
    <a:srgbClr val="F0F0F0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浅色样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391" autoAdjust="0"/>
    <p:restoredTop sz="94569" autoAdjust="0"/>
  </p:normalViewPr>
  <p:slideViewPr>
    <p:cSldViewPr snapToGrid="0" showGuides="1">
      <p:cViewPr varScale="1">
        <p:scale>
          <a:sx n="73" d="100"/>
          <a:sy n="73" d="100"/>
        </p:scale>
        <p:origin x="204" y="52"/>
      </p:cViewPr>
      <p:guideLst>
        <p:guide orient="horz" pos="2183"/>
        <p:guide pos="3858"/>
      </p:guideLst>
    </p:cSldViewPr>
  </p:slideViewPr>
  <p:notesTextViewPr>
    <p:cViewPr>
      <p:scale>
        <a:sx n="75" d="100"/>
        <a:sy n="75" d="100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tags" Target="tags/tag1.xml"/><Relationship Id="rId5" Type="http://schemas.openxmlformats.org/officeDocument/2006/relationships/commentAuthors" Target="commentAuthors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BF229D1-F6A1-4B4E-834C-DB826CE48BB5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宋体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宋体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194206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1338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1033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327582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0184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48671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31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1894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3782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90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620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98500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正文（单语言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 hasCustomPrompt="1"/>
          </p:nvPr>
        </p:nvSpPr>
        <p:spPr>
          <a:xfrm>
            <a:off x="575734" y="1004725"/>
            <a:ext cx="11040533" cy="4848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457200" indent="0">
              <a:buFontTx/>
              <a:buNone/>
              <a:defRPr sz="213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914400" indent="0">
              <a:buFontTx/>
              <a:buNone/>
              <a:defRPr sz="1865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371600" indent="0">
              <a:buFontTx/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1828800" indent="0">
              <a:buFontTx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kumimoji="1" lang="zh-CN" altLang="en-US" dirty="0"/>
              <a:t>单击此处添加正文内容</a:t>
            </a:r>
          </a:p>
        </p:txBody>
      </p:sp>
      <p:cxnSp>
        <p:nvCxnSpPr>
          <p:cNvPr id="3" name="直接连接符 15"/>
          <p:cNvCxnSpPr/>
          <p:nvPr/>
        </p:nvCxnSpPr>
        <p:spPr>
          <a:xfrm flipV="1">
            <a:off x="575734" y="709514"/>
            <a:ext cx="8855457" cy="1"/>
          </a:xfrm>
          <a:prstGeom prst="line">
            <a:avLst/>
          </a:prstGeom>
          <a:ln>
            <a:gradFill>
              <a:gsLst>
                <a:gs pos="0">
                  <a:schemeClr val="bg1">
                    <a:lumMod val="85000"/>
                  </a:schemeClr>
                </a:gs>
                <a:gs pos="100000">
                  <a:schemeClr val="bg1">
                    <a:lumMod val="65000"/>
                  </a:schemeClr>
                </a:gs>
              </a:gsLst>
              <a:lin ang="10800000" scaled="0"/>
            </a:gra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575733" y="201154"/>
            <a:ext cx="9120000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>
            <a:lvl1pPr>
              <a:lnSpc>
                <a:spcPct val="100000"/>
              </a:lnSpc>
              <a:spcAft>
                <a:spcPts val="0"/>
              </a:spcAft>
              <a:defRPr sz="2400" b="1">
                <a:solidFill>
                  <a:schemeClr val="tx1">
                    <a:lumMod val="75000"/>
                    <a:lumOff val="25000"/>
                  </a:schemeClr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单击此处添加正文标题</a:t>
            </a:r>
            <a:endParaRPr 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7711" y="269844"/>
            <a:ext cx="1440000" cy="43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91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A33BAE-754A-49E5-8501-DAC62857D96B}" type="datetimeFigureOut">
              <a:rPr lang="zh-CN" altLang="en-US" smtClean="0"/>
              <a:t>2026/4/16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6E56E3-83AB-42F4-AA27-2C1781DD6493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GSEDS_d46a6755_58457ea0_1_7">
            <a:extLst>
              <a:ext uri="{FF2B5EF4-FFF2-40B4-BE49-F238E27FC236}">
                <a16:creationId xmlns:a16="http://schemas.microsoft.com/office/drawing/2014/main" id="{D8AAC47C-9108-4AD8-A6D1-1A108D96F9F7}"/>
              </a:ext>
            </a:extLst>
          </p:cNvPr>
          <p:cNvSpPr txBox="1">
            <a:spLocks noChangeAspect="1"/>
          </p:cNvSpPr>
          <p:nvPr userDrawn="1"/>
        </p:nvSpPr>
        <p:spPr>
          <a:xfrm rot="18900000">
            <a:off x="2166078" y="2898086"/>
            <a:ext cx="7859844" cy="1061829"/>
          </a:xfrm>
          <a:prstGeom prst="rect">
            <a:avLst/>
          </a:prstGeom>
          <a:noFill/>
        </p:spPr>
        <p:txBody>
          <a:bodyPr vert="horz" wrap="none" rtlCol="0" anchor="ctr" anchorCtr="1">
            <a:spAutoFit/>
          </a:bodyPr>
          <a:lstStyle/>
          <a:p>
            <a:r>
              <a:rPr kumimoji="0" lang="en-US" altLang="zh-CN" sz="6300" b="0" i="0" u="none" normalizeH="0">
                <a:solidFill>
                  <a:srgbClr val="808080">
                    <a:alpha val="3137"/>
                  </a:srgbClr>
                </a:solidFill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20359    2026-04-16</a:t>
            </a:r>
            <a:endParaRPr kumimoji="0" lang="zh-CN" altLang="en-US" sz="6300" b="0" i="0" u="none" normalizeH="0">
              <a:solidFill>
                <a:srgbClr val="808080">
                  <a:alpha val="3137"/>
                </a:srgbClr>
              </a:solidFill>
              <a:latin typeface="宋体" panose="02010600030101010101" pitchFamily="2" charset="-122"/>
              <a:ea typeface="宋体" panose="02010600030101010101" pitchFamily="2" charset="-122"/>
              <a:sym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3828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2.xml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AFFB2235-96E4-4474-A245-DC13F7D698D5}"/>
              </a:ext>
            </a:extLst>
          </p:cNvPr>
          <p:cNvSpPr txBox="1"/>
          <p:nvPr/>
        </p:nvSpPr>
        <p:spPr>
          <a:xfrm>
            <a:off x="204493" y="1487522"/>
            <a:ext cx="10965532" cy="4787772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 anchor="ctr" anchorCtr="0">
            <a:noAutofit/>
          </a:bodyPr>
          <a:lstStyle/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0" algn="l" defTabSz="609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592316" y="202803"/>
            <a:ext cx="11483518" cy="369332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方案</a:t>
            </a:r>
            <a:r>
              <a:rPr lang="en-US" altLang="zh-CN" dirty="0">
                <a:solidFill>
                  <a:schemeClr val="tx1"/>
                </a:solidFill>
              </a:rPr>
              <a:t>-</a:t>
            </a:r>
            <a:r>
              <a:rPr lang="zh-CN" altLang="en-US" dirty="0">
                <a:solidFill>
                  <a:schemeClr val="tx1"/>
                </a:solidFill>
              </a:rPr>
              <a:t>极客行动 </a:t>
            </a:r>
            <a:r>
              <a:rPr lang="en-US" altLang="zh-CN" dirty="0">
                <a:solidFill>
                  <a:schemeClr val="tx1"/>
                </a:solidFill>
              </a:rPr>
              <a:t>|</a:t>
            </a:r>
            <a:r>
              <a:rPr lang="zh-CN" altLang="en-US" dirty="0">
                <a:solidFill>
                  <a:prstClr val="black"/>
                </a:solidFill>
              </a:rPr>
              <a:t> </a:t>
            </a:r>
            <a:r>
              <a:rPr lang="zh-CN" altLang="en-US" sz="1600" dirty="0">
                <a:solidFill>
                  <a:prstClr val="black"/>
                </a:solidFill>
              </a:rPr>
              <a:t>内训覆盖</a:t>
            </a:r>
            <a:r>
              <a:rPr lang="en-US" altLang="zh-CN" sz="1600" dirty="0">
                <a:solidFill>
                  <a:srgbClr val="FF0000"/>
                </a:solidFill>
              </a:rPr>
              <a:t>42%,XXX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1640511" y="256430"/>
            <a:ext cx="290465" cy="369332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2DFAC5E9-0844-4310-BCC3-33862498836D}"/>
              </a:ext>
            </a:extLst>
          </p:cNvPr>
          <p:cNvSpPr txBox="1"/>
          <p:nvPr>
            <p:custDataLst>
              <p:tags r:id="rId1"/>
            </p:custDataLst>
          </p:nvPr>
        </p:nvSpPr>
        <p:spPr>
          <a:xfrm>
            <a:off x="59625" y="754613"/>
            <a:ext cx="1778140" cy="358469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 algn="ctr">
              <a:spcAft>
                <a:spcPts val="600"/>
              </a:spcAft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极客行动</a:t>
            </a:r>
            <a:r>
              <a:rPr kumimoji="0" lang="en-US" altLang="zh-CN" sz="1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H2</a:t>
            </a:r>
          </a:p>
        </p:txBody>
      </p:sp>
      <p:sp>
        <p:nvSpPr>
          <p:cNvPr id="43" name="圆角矩形 42"/>
          <p:cNvSpPr/>
          <p:nvPr/>
        </p:nvSpPr>
        <p:spPr>
          <a:xfrm>
            <a:off x="541430" y="1177075"/>
            <a:ext cx="3071634" cy="260184"/>
          </a:xfrm>
          <a:prstGeom prst="round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极客</a:t>
            </a:r>
            <a:r>
              <a:rPr lang="en-US" altLang="zh-CN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-</a:t>
            </a:r>
            <a:r>
              <a:rPr lang="zh-CN" altLang="en-US" sz="1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能力地图内</a:t>
            </a:r>
            <a:r>
              <a:rPr lang="zh-CN" altLang="en-US" sz="1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训进展表格</a:t>
            </a:r>
            <a:endParaRPr lang="zh-CN" altLang="en-US" sz="1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A840C5C-E881-4779-B2EF-6321146D0820}"/>
              </a:ext>
            </a:extLst>
          </p:cNvPr>
          <p:cNvSpPr txBox="1"/>
          <p:nvPr/>
        </p:nvSpPr>
        <p:spPr>
          <a:xfrm>
            <a:off x="6824271" y="1659169"/>
            <a:ext cx="3757940" cy="1923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55A7BC3B-8242-4878-B6B3-679855866C37}"/>
              </a:ext>
            </a:extLst>
          </p:cNvPr>
          <p:cNvSpPr txBox="1"/>
          <p:nvPr/>
        </p:nvSpPr>
        <p:spPr>
          <a:xfrm>
            <a:off x="0" y="5982598"/>
            <a:ext cx="4163961" cy="2415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152400" algn="l">
              <a:lnSpc>
                <a:spcPct val="125000"/>
              </a:lnSpc>
            </a:pP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说明：</a:t>
            </a:r>
            <a:r>
              <a:rPr lang="zh-CN" altLang="en-US" sz="800" b="1" dirty="0">
                <a:solidFill>
                  <a:srgbClr val="C0000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学习完成率</a:t>
            </a:r>
            <a:r>
              <a:rPr lang="zh-CN" altLang="zh-CN" sz="800" b="1" dirty="0">
                <a:solidFill>
                  <a:srgbClr val="C0000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为 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学习</a:t>
            </a:r>
            <a:r>
              <a:rPr lang="en-US" altLang="zh-CN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+</a:t>
            </a:r>
            <a:r>
              <a:rPr lang="zh-CN" altLang="en-US" sz="800" b="1" dirty="0">
                <a:solidFill>
                  <a:srgbClr val="404040"/>
                </a:solidFill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考试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通过人员占</a:t>
            </a:r>
            <a:r>
              <a:rPr lang="zh-CN" altLang="en-US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总课程下发人数</a:t>
            </a:r>
            <a:r>
              <a:rPr lang="zh-CN" altLang="zh-CN" sz="800" b="1" dirty="0">
                <a:solidFill>
                  <a:srgbClr val="404040"/>
                </a:solidFill>
                <a:effectLst/>
                <a:latin typeface="等线" panose="02010600030101010101" pitchFamily="2" charset="-122"/>
                <a:ea typeface="微软雅黑" panose="020B0503020204020204" pitchFamily="34" charset="-122"/>
                <a:cs typeface="宋体" panose="02010600030101010101" pitchFamily="2" charset="-122"/>
              </a:rPr>
              <a:t>的百分比</a:t>
            </a:r>
            <a:endParaRPr lang="zh-CN" altLang="zh-CN" sz="800" dirty="0">
              <a:effectLst/>
              <a:latin typeface="等线" panose="02010600030101010101" pitchFamily="2" charset="-122"/>
              <a:ea typeface="等线" panose="02010600030101010101" pitchFamily="2" charset="-122"/>
              <a:cs typeface="宋体" panose="02010600030101010101" pitchFamily="2" charset="-122"/>
            </a:endParaRPr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304799" y="1552711"/>
          <a:ext cx="6519473" cy="43787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1353"/>
                <a:gridCol w="931353"/>
                <a:gridCol w="931353"/>
                <a:gridCol w="931353"/>
                <a:gridCol w="931353"/>
                <a:gridCol w="931353"/>
                <a:gridCol w="931355"/>
              </a:tblGrid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小组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总人数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已完成人数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学习完成率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本轮排名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上一轮排名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latin typeface="微软雅黑"/>
                        </a:rPr>
                        <a:t>上一轮学习完成率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墨西哥区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南洋区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96.67%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95.08%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拉美区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94.64%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92.86%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大洋洲区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90.0%</a:t>
                      </a:r>
                    </a:p>
                  </a:txBody>
                  <a:tcPr>
                    <a:solidFill>
                      <a:srgbClr val="C6EF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非洲区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89.29%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82.14%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东北欧区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89.13%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80.43%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国际合作部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87.8%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欧亚区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87.5%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84.38%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巴西区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76.92%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61.54%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东南亚区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75.0%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73.81%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中东北非区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73.6%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72.8%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西欧区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57.5%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52.5%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英国区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53.33%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53.33%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人力资源部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74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集成商业务部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0.0%</a:t>
                      </a:r>
                    </a:p>
                  </a:txBody>
                  <a:tcPr/>
                </a:tc>
              </a:tr>
              <a:tr h="257585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总计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604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488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80.79%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latin typeface="微软雅黑"/>
                        </a:rPr>
                        <a:t>77.52%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4" name="TextBox 63"/>
          <p:cNvSpPr txBox="1"/>
          <p:nvPr/>
        </p:nvSpPr>
        <p:spPr>
          <a:xfrm>
            <a:off x="6583680" y="1097280"/>
            <a:ext cx="23774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400">
                <a:latin typeface="微软雅黑"/>
              </a:defRPr>
            </a:pPr>
            <a:r>
              <a:t>本轮学习情况分析</a:t>
            </a:r>
          </a:p>
          <a:p>
            <a:pPr>
              <a:defRPr sz="1000">
                <a:latin typeface="微软雅黑"/>
              </a:defRPr>
            </a:pPr>
            <a:r>
              <a:t>1. 整体情况：本轮总参与人数 604 人，整体完成率 80.79%。</a:t>
            </a:r>
          </a:p>
          <a:p>
            <a:pPr>
              <a:defRPr sz="1000">
                <a:latin typeface="微软雅黑"/>
              </a:defRPr>
            </a:pPr>
            <a:r>
              <a:t>2. 领先小组：前3名为 墨西哥区（100.0%）、南洋区（96.67%）、拉美区（94.64%）。</a:t>
            </a:r>
          </a:p>
          <a:p>
            <a:pPr>
              <a:defRPr sz="1000">
                <a:latin typeface="微软雅黑"/>
              </a:defRPr>
            </a:pPr>
            <a:r>
              <a:t>3. 待提升小组：后3名为 英国区（53.33%）、人力资源部（0.0%）、集成商业务部（0.0%），建议重点跟进未完成人员。</a:t>
            </a:r>
          </a:p>
          <a:p>
            <a:pPr>
              <a:defRPr sz="1000">
                <a:latin typeface="微软雅黑"/>
              </a:defRPr>
            </a:pPr>
            <a:r>
              <a:t>4. 排名提升：大洋洲区（8→4）、巴西区（11→9）。</a:t>
            </a:r>
          </a:p>
          <a:p>
            <a:pPr>
              <a:defRPr sz="1000">
                <a:latin typeface="微软雅黑"/>
              </a:defRPr>
            </a:pPr>
            <a:r>
              <a:t>5. 排名下滑：国际合作部（4→7）、欧亚区（5→8）。</a:t>
            </a:r>
          </a:p>
          <a:p>
            <a:pPr>
              <a:defRPr sz="1000">
                <a:latin typeface="微软雅黑"/>
              </a:defRPr>
            </a:pPr>
            <a:r>
              <a:t>6. 完成率提升：巴西区 提升 15.38 个百分点（61.54%→76.92%）。</a:t>
            </a:r>
          </a:p>
        </p:txBody>
      </p:sp>
    </p:spTree>
    <p:extLst>
      <p:ext uri="{BB962C8B-B14F-4D97-AF65-F5344CB8AC3E}">
        <p14:creationId xmlns:p14="http://schemas.microsoft.com/office/powerpoint/2010/main" val="103699687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10&quot;:[3637727]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  <p:tag name="KSO_WM_DIAGRAM_VIRTUALLY_FRAME" val="{&quot;height&quot;:175.95,&quot;left&quot;:43.55,&quot;top&quot;:352.45,&quot;width&quot;:897.85}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15013</TotalTime>
  <Words>318</Words>
  <Application>Microsoft Office PowerPoint</Application>
  <PresentationFormat>宽屏</PresentationFormat>
  <Paragraphs>72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等线</vt:lpstr>
      <vt:lpstr>等线 Light</vt:lpstr>
      <vt:lpstr>宋体</vt:lpstr>
      <vt:lpstr>微软雅黑</vt:lpstr>
      <vt:lpstr>Arial</vt:lpstr>
      <vt:lpstr>Calibri</vt:lpstr>
      <vt:lpstr>Office 主题​​</vt:lpstr>
      <vt:lpstr>方案-极客行动 | 内训覆盖42%,XXX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重点工作月度总结与计划</dc:title>
  <dc:creator>32168</dc:creator>
  <cp:lastModifiedBy>胡明舒</cp:lastModifiedBy>
  <cp:revision>504</cp:revision>
  <dcterms:created xsi:type="dcterms:W3CDTF">2025-03-24T01:45:08Z</dcterms:created>
  <dcterms:modified xsi:type="dcterms:W3CDTF">2026-04-16T11:23:24Z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2052-0.0.0.0</vt:lpwstr>
  </property>
  <property fmtid="{D5CDD505-2E9C-101B-9397-08002B2CF9AE}" pid="3" name="ICV">
    <vt:lpwstr>FD3E3B98A84544C5B2408BE8D9746E23_11</vt:lpwstr>
  </property>
  <property fmtid="{D5CDD505-2E9C-101B-9397-08002B2CF9AE}" pid="4" name="GSEDS_TWMT">
    <vt:lpwstr>d46a6755_b77b54e0_58457ea007ee40e34735a61ad824642c449803a332cb7f90b3442b7f9fc116e5_47f7d3bd7a588c8c18c0632b9e0d61a5779744d1f8a3196113846b3ccc7c8cac</vt:lpwstr>
  </property>
  <property fmtid="{D5CDD505-2E9C-101B-9397-08002B2CF9AE}" pid="5" name="GSEDS_HWMT_d46a6755">
    <vt:lpwstr>f2457335_mFV3xD84Jik3OMpOk3v/rWLywjA=_8QYrr15fIzUrXb1P4gKfrrlCuFixJbQLDZjFCqUN8G4qhq+0m9yaPaAGkuZABU9LII/VbXTYIraNTfvRdzAD+nzy+lY=_a969955c</vt:lpwstr>
  </property>
</Properties>
</file>