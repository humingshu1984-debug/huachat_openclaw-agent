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4"/>
  </p:notesMasterIdLst>
  <p:sldIdLst>
    <p:sldId id="317" r:id="rId2"/>
    <p:sldId id="2105" r:id="rId3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  <p14:sldId id="21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272692294" name="LY。" initials="L" lastIdx="1" clrIdx="8"/>
  <p:cmAuthor id="7" name="Lillian Tong 童丽媛" initials="LT童" lastIdx="1" clrIdx="6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4759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GSEDS_d46a6755_284ecd33_1_7">
            <a:extLst>
              <a:ext uri="{FF2B5EF4-FFF2-40B4-BE49-F238E27FC236}">
                <a16:creationId xmlns:a16="http://schemas.microsoft.com/office/drawing/2014/main" id="{7499D85F-20E4-429A-B1D2-C397BB2888F6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2026-06-12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>
                <a:solidFill>
                  <a:schemeClr val="tx1"/>
                </a:solidFill>
              </a:rPr>
              <a:t>极客必知必会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564266"/>
              </p:ext>
            </p:extLst>
          </p:nvPr>
        </p:nvGraphicFramePr>
        <p:xfrm>
          <a:off x="304799" y="1552711"/>
          <a:ext cx="3953690" cy="4279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0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94.64%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92.86%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89.13%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87.8%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87.5%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82.05%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80.25%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74.4%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72.73%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57.5%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  <a:r>
                        <a:rPr lang="en-US" altLang="zh-CN" sz="1000">
                          <a:latin typeface="微软雅黑"/>
                        </a:rPr>
                        <a:t>88</a:t>
                      </a:r>
                      <a:endParaRPr sz="1000"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  <a:r>
                        <a:rPr lang="en-US" altLang="zh-CN" sz="1000">
                          <a:latin typeface="微软雅黑"/>
                        </a:rPr>
                        <a:t>4</a:t>
                      </a:r>
                      <a:r>
                        <a:rPr sz="1000">
                          <a:latin typeface="微软雅黑"/>
                        </a:rPr>
                        <a:t>.</a:t>
                      </a:r>
                      <a:r>
                        <a:rPr lang="en-US" altLang="zh-CN" sz="1000">
                          <a:latin typeface="微软雅黑"/>
                        </a:rPr>
                        <a:t>0</a:t>
                      </a:r>
                      <a:r>
                        <a:rPr sz="1000">
                          <a:latin typeface="微软雅黑"/>
                        </a:rPr>
                        <a:t>1%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7733212" y="2093536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594 人，整体完成率 83.16%。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南洋区（100.0%）、墨西哥区（100.0%）、大洋洲区（100.0%）。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西欧区（57.5%）、人力资源部（0.0%）、集成商业务部（0.0%），建议重点跟进未完成人员。</a:t>
            </a:r>
          </a:p>
          <a:p>
            <a:pPr>
              <a:defRPr sz="1000">
                <a:latin typeface="微软雅黑"/>
              </a:defRPr>
            </a:pPr>
            <a:r>
              <a:t>4. 排名提升：英国区（13→12）。</a:t>
            </a:r>
          </a:p>
          <a:p>
            <a:pPr>
              <a:defRPr sz="1000">
                <a:latin typeface="微软雅黑"/>
              </a:defRPr>
            </a:pPr>
            <a:r>
              <a:t>5. 排名下滑：西欧区（12→13）。</a:t>
            </a:r>
          </a:p>
          <a:p>
            <a:pPr>
              <a:defRPr sz="1000">
                <a:latin typeface="微软雅黑"/>
              </a:defRPr>
            </a:pPr>
            <a:r>
              <a:t>6. 完成率提升：英国区 提升 19.40 个百分点（53.33%→72.73%）。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2407856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-2026</a:t>
            </a:r>
            <a:r>
              <a:rPr lang="zh-CN" altLang="en-US" dirty="0">
                <a:solidFill>
                  <a:schemeClr val="tx1"/>
                </a:solidFill>
              </a:rPr>
              <a:t>极客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8569728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-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通识能力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圆角矩形 42">
            <a:extLst>
              <a:ext uri="{FF2B5EF4-FFF2-40B4-BE49-F238E27FC236}">
                <a16:creationId xmlns:a16="http://schemas.microsoft.com/office/drawing/2014/main" id="{9C692209-7A94-4186-87C7-59750211C6E6}"/>
              </a:ext>
            </a:extLst>
          </p:cNvPr>
          <p:cNvSpPr/>
          <p:nvPr/>
        </p:nvSpPr>
        <p:spPr>
          <a:xfrm>
            <a:off x="107305" y="1195547"/>
            <a:ext cx="2892867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26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极客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必知必会</a:t>
            </a:r>
            <a:r>
              <a:rPr lang="zh-CN" altLang="en-US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学习考核</a:t>
            </a:r>
            <a:r>
              <a:rPr lang="en-US" altLang="zh-CN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进展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0" name="Table 62">
            <a:extLst>
              <a:ext uri="{FF2B5EF4-FFF2-40B4-BE49-F238E27FC236}">
                <a16:creationId xmlns:a16="http://schemas.microsoft.com/office/drawing/2014/main" id="{5389209E-9622-4DA9-81FD-84A716757FE1}"/>
              </a:ext>
            </a:extLst>
          </p:cNvPr>
          <p:cNvGraphicFramePr>
            <a:graphicFrameLocks noGrp="1"/>
          </p:cNvGraphicFramePr>
          <p:nvPr/>
        </p:nvGraphicFramePr>
        <p:xfrm>
          <a:off x="107305" y="1561948"/>
          <a:ext cx="425798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5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5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15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26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609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73.21%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609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61.11%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609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53.66%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609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50.0%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609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48.94%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609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609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39.77%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609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37.5%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609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36.59%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609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27.78%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609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25.81%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2609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17.39%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2609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9.09%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2609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</a:t>
                      </a:r>
                      <a:r>
                        <a:rPr lang="en-US" altLang="zh-CN" sz="1000">
                          <a:latin typeface="微软雅黑"/>
                        </a:rPr>
                        <a:t>4</a:t>
                      </a:r>
                      <a:endParaRPr sz="1000"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45.</a:t>
                      </a:r>
                      <a:r>
                        <a:rPr lang="en-US" altLang="zh-CN" sz="1000">
                          <a:latin typeface="微软雅黑"/>
                        </a:rPr>
                        <a:t>43</a:t>
                      </a:r>
                      <a:r>
                        <a:rPr sz="1000">
                          <a:latin typeface="微软雅黑"/>
                        </a:rPr>
                        <a:t>%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882A1E07-9669-4C4F-B12E-078DCA0D56AB}"/>
              </a:ext>
            </a:extLst>
          </p:cNvPr>
          <p:cNvSpPr txBox="1"/>
          <p:nvPr/>
        </p:nvSpPr>
        <p:spPr>
          <a:xfrm>
            <a:off x="3000172" y="1177075"/>
            <a:ext cx="1344317" cy="279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152400">
              <a:lnSpc>
                <a:spcPct val="125000"/>
              </a:lnSpc>
              <a:defRPr/>
            </a:pP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核截至日期为</a:t>
            </a:r>
            <a:r>
              <a:rPr lang="en-US" altLang="zh-CN" sz="1050" b="1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5/30</a:t>
            </a:r>
            <a:endParaRPr kumimoji="0" lang="zh-CN" altLang="zh-CN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圆角矩形 42">
            <a:extLst>
              <a:ext uri="{FF2B5EF4-FFF2-40B4-BE49-F238E27FC236}">
                <a16:creationId xmlns:a16="http://schemas.microsoft.com/office/drawing/2014/main" id="{14B13F2E-C034-42BC-921C-D6EEDA9E49DE}"/>
              </a:ext>
            </a:extLst>
          </p:cNvPr>
          <p:cNvSpPr/>
          <p:nvPr/>
        </p:nvSpPr>
        <p:spPr>
          <a:xfrm>
            <a:off x="4568499" y="1177075"/>
            <a:ext cx="2892867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26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极客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-DHIA</a:t>
            </a:r>
            <a:r>
              <a:rPr lang="zh-CN" altLang="en-US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软件学习考核</a:t>
            </a:r>
            <a:r>
              <a:rPr lang="en-US" altLang="zh-CN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进展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9FFE62-F6D3-435A-8BC7-077487292A26}"/>
              </a:ext>
            </a:extLst>
          </p:cNvPr>
          <p:cNvSpPr txBox="1"/>
          <p:nvPr/>
        </p:nvSpPr>
        <p:spPr>
          <a:xfrm>
            <a:off x="4465392" y="5152338"/>
            <a:ext cx="4163961" cy="287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DHIA-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软件 考核截至日期为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6.20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号</a:t>
            </a:r>
            <a:endParaRPr kumimoji="0" lang="zh-CN" altLang="zh-CN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4" name="Table 62">
            <a:extLst>
              <a:ext uri="{FF2B5EF4-FFF2-40B4-BE49-F238E27FC236}">
                <a16:creationId xmlns:a16="http://schemas.microsoft.com/office/drawing/2014/main" id="{40C154DD-A9C9-4A52-AB9B-CBDA25860DEA}"/>
              </a:ext>
            </a:extLst>
          </p:cNvPr>
          <p:cNvGraphicFramePr>
            <a:graphicFrameLocks noGrp="1"/>
          </p:cNvGraphicFramePr>
          <p:nvPr/>
        </p:nvGraphicFramePr>
        <p:xfrm>
          <a:off x="4562781" y="1561948"/>
          <a:ext cx="40917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8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8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6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83.93%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56.91%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50.0%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46.34%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42.55%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34.09%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31.25%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>
                          <a:latin typeface="微软雅黑"/>
                        </a:rPr>
                        <a:t>8</a:t>
                      </a:r>
                      <a:endParaRPr sz="1000">
                        <a:latin typeface="微软雅黑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6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29.27%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>
                          <a:latin typeface="微软雅黑"/>
                        </a:rPr>
                        <a:t>9</a:t>
                      </a:r>
                      <a:endParaRPr sz="1000">
                        <a:latin typeface="微软雅黑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6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27.27%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  <a:r>
                        <a:rPr lang="en-US" altLang="zh-CN" sz="1000">
                          <a:latin typeface="微软雅黑"/>
                        </a:rPr>
                        <a:t>0</a:t>
                      </a:r>
                      <a:endParaRPr sz="1000">
                        <a:latin typeface="微软雅黑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6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25.0%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  <a:r>
                        <a:rPr lang="en-US" altLang="zh-CN" sz="1000">
                          <a:latin typeface="微软雅黑"/>
                        </a:rPr>
                        <a:t>1</a:t>
                      </a:r>
                      <a:endParaRPr sz="1000">
                        <a:latin typeface="微软雅黑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6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latin typeface="微软雅黑"/>
                        </a:rPr>
                        <a:t>17.74%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  <a:r>
                        <a:rPr lang="en-US" altLang="zh-CN" sz="1000">
                          <a:latin typeface="微软雅黑"/>
                        </a:rPr>
                        <a:t>2</a:t>
                      </a:r>
                      <a:endParaRPr sz="1000">
                        <a:latin typeface="微软雅黑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6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17.39%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  <a:r>
                        <a:rPr lang="en-US" altLang="zh-CN" sz="1000">
                          <a:latin typeface="微软雅黑"/>
                        </a:rPr>
                        <a:t>3</a:t>
                      </a:r>
                      <a:endParaRPr sz="1000">
                        <a:latin typeface="微软雅黑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62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</a:t>
                      </a:r>
                      <a:r>
                        <a:rPr lang="en-US" altLang="zh-CN" sz="1000">
                          <a:latin typeface="微软雅黑"/>
                        </a:rPr>
                        <a:t>2</a:t>
                      </a:r>
                      <a:endParaRPr sz="1000"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26</a:t>
                      </a:r>
                      <a:r>
                        <a:rPr lang="en-US" altLang="zh-CN" sz="1000">
                          <a:latin typeface="微软雅黑"/>
                        </a:rPr>
                        <a:t>1</a:t>
                      </a:r>
                      <a:endParaRPr sz="1000"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42.</a:t>
                      </a:r>
                      <a:r>
                        <a:rPr lang="en-US" altLang="zh-CN" sz="1000">
                          <a:latin typeface="微软雅黑"/>
                        </a:rPr>
                        <a:t>60</a:t>
                      </a:r>
                      <a:r>
                        <a:rPr sz="1000">
                          <a:latin typeface="微软雅黑"/>
                        </a:rPr>
                        <a:t>%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13E98D33-5822-4B96-A48E-5D623F42531B}"/>
              </a:ext>
            </a:extLst>
          </p:cNvPr>
          <p:cNvSpPr txBox="1"/>
          <p:nvPr/>
        </p:nvSpPr>
        <p:spPr>
          <a:xfrm>
            <a:off x="8825779" y="754613"/>
            <a:ext cx="3306596" cy="167597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本次两项极客培训整体完成率</a:t>
            </a:r>
            <a:r>
              <a:rPr lang="zh-CN" altLang="en-US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各大区仍需加速，</a:t>
            </a: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各区域目前进度</a:t>
            </a:r>
            <a:r>
              <a:rPr lang="zh-CN" altLang="en-US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分化显著</a:t>
            </a: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900" b="1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优秀梯队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9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拉美区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两项考核均领跑，为标杆示范；</a:t>
            </a:r>
            <a:r>
              <a:rPr lang="zh-CN" altLang="en-US" sz="9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中东北非</a:t>
            </a:r>
            <a:r>
              <a:rPr lang="zh-CN" altLang="en-US" sz="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整体表现较好。</a:t>
            </a:r>
            <a:endParaRPr lang="zh-CN" altLang="en-US" sz="900" b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良好梯队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9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国际合作部、非洲区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进度平稳，处于中游水平。</a:t>
            </a:r>
            <a:endParaRPr lang="zh-CN" altLang="en-US" sz="900" b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待提升梯队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：南洋、墨西哥、大洋洲、欧亚等区域完成率相对较低，关注后续重点提拉</a:t>
            </a:r>
            <a:endParaRPr lang="en-US" altLang="zh-CN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9187FF-B1D0-4457-BAE0-8AC3AB5BFCB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7305" y="5537470"/>
            <a:ext cx="8569728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-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行业专精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箭头: 下 3">
            <a:extLst>
              <a:ext uri="{FF2B5EF4-FFF2-40B4-BE49-F238E27FC236}">
                <a16:creationId xmlns:a16="http://schemas.microsoft.com/office/drawing/2014/main" id="{8E416FE6-6B9F-4883-8F25-FF30BB68D8E4}"/>
              </a:ext>
            </a:extLst>
          </p:cNvPr>
          <p:cNvSpPr/>
          <p:nvPr/>
        </p:nvSpPr>
        <p:spPr>
          <a:xfrm>
            <a:off x="107305" y="5288892"/>
            <a:ext cx="1696366" cy="35846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H2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达成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4B26639-AC3F-4519-9D1E-B462F5CF0B4E}"/>
              </a:ext>
            </a:extLst>
          </p:cNvPr>
          <p:cNvSpPr txBox="1"/>
          <p:nvPr/>
        </p:nvSpPr>
        <p:spPr>
          <a:xfrm>
            <a:off x="7336114" y="1164885"/>
            <a:ext cx="1344317" cy="279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152400">
              <a:lnSpc>
                <a:spcPct val="125000"/>
              </a:lnSpc>
              <a:defRPr/>
            </a:pP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核截至日期为</a:t>
            </a:r>
            <a:r>
              <a:rPr lang="en-US" altLang="zh-CN" sz="1050" b="1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6/20</a:t>
            </a:r>
            <a:endParaRPr kumimoji="0" lang="zh-CN" altLang="zh-CN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圆角矩形 42">
            <a:extLst>
              <a:ext uri="{FF2B5EF4-FFF2-40B4-BE49-F238E27FC236}">
                <a16:creationId xmlns:a16="http://schemas.microsoft.com/office/drawing/2014/main" id="{56CC4CDF-5F2E-42A3-A0D8-D43814BF247F}"/>
              </a:ext>
            </a:extLst>
          </p:cNvPr>
          <p:cNvSpPr/>
          <p:nvPr/>
        </p:nvSpPr>
        <p:spPr>
          <a:xfrm>
            <a:off x="107305" y="6395013"/>
            <a:ext cx="2183313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BDM/</a:t>
            </a:r>
            <a:r>
              <a:rPr lang="zh-CN" altLang="en-US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售前主力行业打标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9560C0C-A296-42F6-88F5-89607DA73AB8}"/>
              </a:ext>
            </a:extLst>
          </p:cNvPr>
          <p:cNvSpPr txBox="1"/>
          <p:nvPr/>
        </p:nvSpPr>
        <p:spPr>
          <a:xfrm>
            <a:off x="107304" y="6103387"/>
            <a:ext cx="21833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/>
              <a:t>5</a:t>
            </a:r>
            <a:r>
              <a:rPr lang="zh-CN" altLang="en-US" sz="1200" b="1" dirty="0"/>
              <a:t>月</a:t>
            </a:r>
            <a:r>
              <a:rPr lang="en-US" altLang="zh-CN" sz="1200" b="1" dirty="0"/>
              <a:t>22</a:t>
            </a:r>
            <a:r>
              <a:rPr lang="zh-CN" altLang="en-US" sz="1200" b="1" dirty="0"/>
              <a:t>日前</a:t>
            </a:r>
          </a:p>
        </p:txBody>
      </p:sp>
      <p:sp>
        <p:nvSpPr>
          <p:cNvPr id="23" name="圆角矩形 42">
            <a:extLst>
              <a:ext uri="{FF2B5EF4-FFF2-40B4-BE49-F238E27FC236}">
                <a16:creationId xmlns:a16="http://schemas.microsoft.com/office/drawing/2014/main" id="{D2A03373-027A-4D55-90ED-8FA07E49CDAE}"/>
              </a:ext>
            </a:extLst>
          </p:cNvPr>
          <p:cNvSpPr/>
          <p:nvPr/>
        </p:nvSpPr>
        <p:spPr>
          <a:xfrm>
            <a:off x="2827416" y="6395013"/>
            <a:ext cx="2588630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个人</a:t>
            </a:r>
            <a:r>
              <a:rPr lang="en-US" altLang="zh-CN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DHIA-</a:t>
            </a:r>
            <a:r>
              <a:rPr lang="zh-CN" altLang="en-US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行业学习任务下发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F9B29D2-609B-4DA9-8229-8CD83BFC8E7F}"/>
              </a:ext>
            </a:extLst>
          </p:cNvPr>
          <p:cNvSpPr txBox="1"/>
          <p:nvPr/>
        </p:nvSpPr>
        <p:spPr>
          <a:xfrm>
            <a:off x="2827415" y="6103387"/>
            <a:ext cx="25886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/>
              <a:t>5</a:t>
            </a:r>
            <a:r>
              <a:rPr lang="zh-CN" altLang="en-US" sz="1200" b="1" dirty="0"/>
              <a:t>月</a:t>
            </a:r>
            <a:r>
              <a:rPr lang="en-US" altLang="zh-CN" sz="1200" b="1" dirty="0"/>
              <a:t>31</a:t>
            </a:r>
            <a:r>
              <a:rPr lang="zh-CN" altLang="en-US" sz="1200" b="1" dirty="0"/>
              <a:t>日前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FC83DCE-06CB-485B-BF20-1FA5B664BC1A}"/>
              </a:ext>
            </a:extLst>
          </p:cNvPr>
          <p:cNvSpPr txBox="1"/>
          <p:nvPr/>
        </p:nvSpPr>
        <p:spPr>
          <a:xfrm>
            <a:off x="8807118" y="5016980"/>
            <a:ext cx="3306596" cy="141436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n-US" altLang="zh-CN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DHIA-</a:t>
            </a:r>
            <a:r>
              <a:rPr lang="zh-CN" altLang="en-US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行业专精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围绕个人实际工作方向，打造行业深入理解：行业背景应知应会；大华方案能力；大华项目产品能力。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优秀梯队：</a:t>
            </a:r>
            <a:r>
              <a:rPr lang="zh-CN" altLang="en-US" sz="9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非洲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已大区牵头完成全区金融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能源打标学习；</a:t>
            </a:r>
            <a:r>
              <a:rPr lang="zh-CN" altLang="en-US" sz="9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墨西哥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售前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DHIA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行业专精学习已开展；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客户营销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：全量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NP+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深耕型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NSI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培训落地</a:t>
            </a:r>
          </a:p>
        </p:txBody>
      </p:sp>
      <p:sp>
        <p:nvSpPr>
          <p:cNvPr id="26" name="圆角矩形 42">
            <a:extLst>
              <a:ext uri="{FF2B5EF4-FFF2-40B4-BE49-F238E27FC236}">
                <a16:creationId xmlns:a16="http://schemas.microsoft.com/office/drawing/2014/main" id="{252FE1DD-6278-4465-8522-10CFC7C11F3A}"/>
              </a:ext>
            </a:extLst>
          </p:cNvPr>
          <p:cNvSpPr/>
          <p:nvPr/>
        </p:nvSpPr>
        <p:spPr>
          <a:xfrm>
            <a:off x="5839693" y="6395013"/>
            <a:ext cx="2588630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个人学习完成</a:t>
            </a:r>
            <a:r>
              <a:rPr lang="en-US" altLang="zh-CN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客户培训落地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314127F-257E-492F-BD65-580115BFE374}"/>
              </a:ext>
            </a:extLst>
          </p:cNvPr>
          <p:cNvSpPr txBox="1"/>
          <p:nvPr/>
        </p:nvSpPr>
        <p:spPr>
          <a:xfrm>
            <a:off x="5839692" y="6103387"/>
            <a:ext cx="25886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/>
              <a:t>12</a:t>
            </a:r>
            <a:r>
              <a:rPr lang="zh-CN" altLang="en-US" sz="1200" b="1" dirty="0"/>
              <a:t>月</a:t>
            </a:r>
            <a:r>
              <a:rPr lang="en-US" altLang="zh-CN" sz="1200" b="1" dirty="0"/>
              <a:t>31</a:t>
            </a:r>
            <a:r>
              <a:rPr lang="zh-CN" altLang="en-US" sz="1200" b="1" dirty="0"/>
              <a:t>日前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078048A-28A0-4F38-B28D-1C8AD2B01489}"/>
              </a:ext>
            </a:extLst>
          </p:cNvPr>
          <p:cNvSpPr txBox="1"/>
          <p:nvPr/>
        </p:nvSpPr>
        <p:spPr>
          <a:xfrm>
            <a:off x="2943120" y="157281"/>
            <a:ext cx="614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必知必会（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45.43%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）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+DHIA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软件（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42.6%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）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，整体学习考核进展需提速；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拉美、中东、非洲、国合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相对进展达成较好。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0426B4E-0525-410C-8C2C-F086F10ADB43}"/>
              </a:ext>
            </a:extLst>
          </p:cNvPr>
          <p:cNvSpPr txBox="1"/>
          <p:nvPr/>
        </p:nvSpPr>
        <p:spPr>
          <a:xfrm>
            <a:off x="8825779" y="2581000"/>
            <a:ext cx="3306596" cy="188372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n-US" altLang="zh-CN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NP</a:t>
            </a:r>
            <a:r>
              <a: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  <a:r>
              <a:rPr lang="en-US" altLang="zh-CN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方案培训覆盖整体情况</a:t>
            </a:r>
            <a:r>
              <a:rPr lang="en-US" altLang="zh-CN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含 极客必知必会</a:t>
            </a:r>
            <a:r>
              <a:rPr lang="en-US" altLang="zh-CN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/DHIA</a:t>
            </a:r>
            <a:r>
              <a: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/DHIA</a:t>
            </a:r>
            <a:r>
              <a: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lang="en-US" altLang="zh-CN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/TGTB</a:t>
            </a:r>
            <a:r>
              <a: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方案 等 课程</a:t>
            </a:r>
            <a:r>
              <a:rPr lang="en-US" altLang="zh-CN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已覆盖比例目前最高为 中东北非区（</a:t>
            </a:r>
            <a:r>
              <a:rPr lang="en-US" altLang="zh-CN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21.33%</a:t>
            </a:r>
            <a:r>
              <a:rPr lang="zh-CN" altLang="en-US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  <a:r>
              <a:rPr lang="en-US" altLang="zh-CN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9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进展</a:t>
            </a:r>
            <a:r>
              <a:rPr lang="zh-CN" altLang="en-US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较为良好大区巴西区（</a:t>
            </a:r>
            <a:r>
              <a:rPr lang="en-US" altLang="zh-CN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15.79%</a:t>
            </a:r>
            <a:r>
              <a:rPr lang="zh-CN" altLang="en-US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），非洲大区（</a:t>
            </a:r>
            <a:r>
              <a:rPr lang="en-US" altLang="zh-CN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12.50%</a:t>
            </a:r>
            <a:r>
              <a:rPr lang="zh-CN" altLang="en-US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）；其它大区需关注重点和推进；</a:t>
            </a: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lang="en-US" altLang="zh-CN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DHIA</a:t>
            </a:r>
            <a:r>
              <a:rPr lang="zh-CN" altLang="en-US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对外的课程本周已经上线，各大区可安排客户覆盖，如果要拿软件激励，大区</a:t>
            </a:r>
            <a:r>
              <a:rPr lang="en-US" altLang="zh-CN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NP/NSI DHIA</a:t>
            </a:r>
            <a:r>
              <a:rPr lang="zh-CN" altLang="en-US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软件培训覆盖需超过</a:t>
            </a:r>
            <a:r>
              <a:rPr lang="en-US" altLang="zh-CN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lang="zh-CN" altLang="en-US" sz="9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，后续也会作为一个观察项每月晾晒；</a:t>
            </a:r>
          </a:p>
        </p:txBody>
      </p:sp>
    </p:spTree>
    <p:extLst>
      <p:ext uri="{BB962C8B-B14F-4D97-AF65-F5344CB8AC3E}">
        <p14:creationId xmlns:p14="http://schemas.microsoft.com/office/powerpoint/2010/main" val="13944339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15126</TotalTime>
  <Words>810</Words>
  <Application>Microsoft Office PowerPoint</Application>
  <PresentationFormat>宽屏</PresentationFormat>
  <Paragraphs>265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方案-极客必知必会 | 内训覆盖42%,XXX</vt:lpstr>
      <vt:lpstr>方案-2026极客 |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505</cp:revision>
  <dcterms:created xsi:type="dcterms:W3CDTF">2025-03-24T01:45:08Z</dcterms:created>
  <dcterms:modified xsi:type="dcterms:W3CDTF">2026-06-12T08:39:29Z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d46a6755_b77b54e0_284ecd33d7a6900929b5e4b865e3ed070f73332f5ed0a54015d8811a363e9351_183ff93ee71b9ca3b4160f3fe01185cff9745fece8c0fb3e0cca5c9f830c224a</vt:lpwstr>
  </property>
  <property fmtid="{D5CDD505-2E9C-101B-9397-08002B2CF9AE}" pid="5" name="GSEDS_HWMT_d46a6755">
    <vt:lpwstr>f2457335_mFV3xD84JCk3PMpOl3v+p+/6Ix0=_8QYrr15fIzUrXb1P4gKfrrlCuFixJbQLDZi2AqV48m7HJqlKUdbg4YJwzWzuWB7wwef4t7ZrnKzMShpGdjBDRVDXCuo=_1e97b374</vt:lpwstr>
  </property>
</Properties>
</file>