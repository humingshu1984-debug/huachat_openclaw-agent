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16"/>
  </p:notesMasterIdLst>
  <p:sldIdLst>
    <p:sldId id="2071" r:id="rId2"/>
    <p:sldId id="2072" r:id="rId3"/>
    <p:sldId id="2073" r:id="rId4"/>
    <p:sldId id="2074" r:id="rId5"/>
    <p:sldId id="2075" r:id="rId6"/>
    <p:sldId id="2076" r:id="rId7"/>
    <p:sldId id="2077" r:id="rId8"/>
    <p:sldId id="2078" r:id="rId9"/>
    <p:sldId id="2079" r:id="rId10"/>
    <p:sldId id="2080" r:id="rId11"/>
    <p:sldId id="2081" r:id="rId12"/>
    <p:sldId id="2082" r:id="rId13"/>
    <p:sldId id="2083" r:id="rId14"/>
    <p:sldId id="2084" r:id="rId15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272692294" name="LY。" initials="L" lastIdx="1" clrIdx="8"/>
  <p:cmAuthor id="7" name="Lillian Tong 童丽媛" initials="LT童" lastIdx="1" clrIdx="6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87192" autoAdjust="0"/>
  </p:normalViewPr>
  <p:slideViewPr>
    <p:cSldViewPr snapToGrid="0" showGuides="1">
      <p:cViewPr varScale="1">
        <p:scale>
          <a:sx n="63" d="100"/>
          <a:sy n="63" d="100"/>
        </p:scale>
        <p:origin x="696" y="60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7467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e6176dfd_1_7">
            <a:extLst>
              <a:ext uri="{FF2B5EF4-FFF2-40B4-BE49-F238E27FC236}">
                <a16:creationId xmlns:a16="http://schemas.microsoft.com/office/drawing/2014/main" id="{CC9ED313-2AAE-455D-B72C-49C69312DD5D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2026-05-18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整体情况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客户培训覆盖整体情况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sz="1500" b="1">
                <a:solidFill>
                  <a:srgbClr val="C00000"/>
                </a:solidFill>
                <a:latin typeface="微软雅黑"/>
              </a:rPr>
              <a:t>整体关键结论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各大区按已覆盖比例排序后，最高为 中东北非区（21.33%），最低为 墨西哥区（0.00%）。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进展较好的大区：中东北非区（21.33%）、巴西区（15.79%）；需重点跟进的大区：欧亚区（4.35%）、英国区（4.00%）、西欧区（2.94%）。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认证推进最快的大区是 巴西区（47.37%）。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841961"/>
              </p:ext>
            </p:extLst>
          </p:nvPr>
        </p:nvGraphicFramePr>
        <p:xfrm>
          <a:off x="303358" y="1271212"/>
          <a:ext cx="6595282" cy="4065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NP客户数量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已覆盖个数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已覆盖比例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DHIA认证通过个数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DHIA认证通过比列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21.33%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3.33%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15.79%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47.37%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8.33%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1.30%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9.28%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2.06%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1.85%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4.35%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221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222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12.50%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5315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中东北非区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中东北非区代表处客户培训覆盖情况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sz="1500" b="1">
                <a:solidFill>
                  <a:srgbClr val="C00000"/>
                </a:solidFill>
                <a:latin typeface="微软雅黑"/>
              </a:rPr>
              <a:t>中东北非区关键结论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中东北非区下各代表处按已覆盖比例排序后，最高为 Tunisia Group（50.00%），最低为 Saudi Arabia Group（5.41%）。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进展较好的代表处：Tunisia Group（50.00%）、East Mediterranean Group（50.00%）、Morocco Group（25.00%）；仍需提升的代表处：Qatar Group（13.33%）、Pakistan Group（7.69%）、Saudi Arabia Group（5.41%）。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认证推进最快的代表处是 Tunisia Group（18.75%）。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9003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代表处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NP客户数量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DHIA认证通过比列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0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Tunisia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50.00%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18.75%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0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East Mediterranean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50.00%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0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Morocco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25.00%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0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UAE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24.32%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0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Egypt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0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Qatar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13.33%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0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Pakistan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7.69%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9007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Saudi Arabia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5.41%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巴西区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巴西区代表处客户培训覆盖情况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sz="1500" b="1">
                <a:solidFill>
                  <a:srgbClr val="C00000"/>
                </a:solidFill>
                <a:latin typeface="微软雅黑"/>
              </a:rPr>
              <a:t>巴西区关键结论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巴西区下当前仅有 1 个代表处纳入统计，为 Brazil Group，已覆盖比例为 15.79%。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进展较好的代表处：Brazil Group（15.79%）。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认证推进最快的代表处是 Brazil Group（47.37%）。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7551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代表处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NP客户数量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DHIA认证通过比列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55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Brazil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15.79%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47.37%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非洲区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非洲区代表处客户培训覆盖情况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sz="1500" b="1">
                <a:solidFill>
                  <a:srgbClr val="C00000"/>
                </a:solidFill>
                <a:latin typeface="微软雅黑"/>
              </a:rPr>
              <a:t>非洲区关键结论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非洲区下各代表处按已覆盖比例排序后，最高为 Tanzania Group（50.00%），最低为 South Africa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进展较好的代表处：Tanzania Group（50.00%）；需重点跟进的代表处：Nigeria Group（0.00%）、South Africa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认证推进最快的代表处是 Tanzania Group（50.00%）。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代表处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NP客户数量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DHIA认证通过比列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Tanzania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50.00%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50.00%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Kenya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11.11%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Nigeria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207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South Africa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南洋区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南洋区代表处客户培训覆盖情况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sz="1500" b="1">
                <a:solidFill>
                  <a:srgbClr val="C00000"/>
                </a:solidFill>
                <a:latin typeface="微软雅黑"/>
              </a:rPr>
              <a:t>南洋区关键结论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南洋区下各代表处按已覆盖比例排序后，最高为 Malaysia Group（27.27%），最低为 Singapore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进展较好的代表处：Malaysia Group（27.27%）；需重点跟进的代表处：Indonesia Group（4.17%）、Philippines Group（4.17%）、Singapore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认证推进最快的代表处是 Indonesia Group（4.17%）。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代表处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NP客户数量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DHIA认证通过比列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Malaysia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27.27%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Indonesia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4.17%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4.17%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Philippines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4.17%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207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Singapore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东南亚区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东南亚区代表处客户培训覆盖情况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sz="1500" b="1">
                <a:solidFill>
                  <a:srgbClr val="C00000"/>
                </a:solidFill>
                <a:latin typeface="微软雅黑"/>
              </a:rPr>
              <a:t>东南亚区关键结论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东南亚区下各代表处按已覆盖比例排序后，最高为 Thailand Group（18.75%），最低为 South Asian Association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进展较好的代表处：Thailand Group（18.75%）、Vietnam Group（18.75%）、Indo-China Peninsula Group（16.67%）；需重点跟进的代表处：Hong Kong Group（4.55%）、Japan Group（0.00%）、South Asian Association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认证推进最快的代表处是 South Asian Association Group（7.14%）。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3878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代表处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NP客户数量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DHIA认证通过比列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87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Thailand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18.75%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87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Vietnam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18.75%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6.25%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87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Indo-China Peninsula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16.67%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87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South Korea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7.14%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87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Hong Kong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4.55%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87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Japan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885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South Asian Association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7.14%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拉美区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拉美区代表处客户培训覆盖情况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sz="1500" b="1">
                <a:solidFill>
                  <a:srgbClr val="C00000"/>
                </a:solidFill>
                <a:latin typeface="微软雅黑"/>
              </a:rPr>
              <a:t>拉美区关键结论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拉美区下各代表处按已覆盖比例排序后，最高为 Colombia Group（33.33%），最低为 Chile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进展较好的代表处：Colombia Group（33.33%）；需重点跟进的代表处：Argentina Group（0.00%）、Central America Group（0.00%）、Chile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认证推进最快的代表处是 Chile Group（12.50%）。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850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代表处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NP客户数量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DHIA认证通过比列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505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Colombia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33.33%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505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Peru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6.67%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505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Argentina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505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Central America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50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Chile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12.50%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东北欧区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东北欧区代表处客户培训覆盖情况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sz="1500" b="1">
                <a:solidFill>
                  <a:srgbClr val="C00000"/>
                </a:solidFill>
                <a:latin typeface="微软雅黑"/>
              </a:rPr>
              <a:t>东北欧区关键结论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东北欧区下各代表处按已覆盖比例排序后，最高为 Turkey Group（17.39%），最低为 Serbia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进展较好的代表处：Turkey Group（17.39%）；需重点跟进的代表处：Balkan Group（0.00%）、Czech Group（0.00%）、Hungary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认证推进最快的代表处是 Turkey Group（0.00%）。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103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代表处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NP客户数量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DHIA认证通过比列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1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Turkey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17.39%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1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Balkan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1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Czech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1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Hungary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1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Israel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1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Nordic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1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Poland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10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Romania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5104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Serbia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欧亚区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欧亚区代表处客户培训覆盖情况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sz="1500" b="1">
                <a:solidFill>
                  <a:srgbClr val="C00000"/>
                </a:solidFill>
                <a:latin typeface="微软雅黑"/>
              </a:rPr>
              <a:t>欧亚区关键结论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欧亚区下各代表处按已覆盖比例排序后，最高为 Ukraine Group（20.00%），最低为 Uzbekistan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进展较好的代表处：Ukraine Group（20.00%）；需重点跟进的代表处：Baltics Group（0.00%）、Kazakhstan Group（0.00%）、Uzbekistan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认证推进最快的代表处是 Ukraine Group（0.00%）。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代表处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NP客户数量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DHIA认证通过比列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Ukraine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Baltics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Kazakhstan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207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Uzbekistan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英国区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英国区代表处客户培训覆盖情况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sz="1500" b="1">
                <a:solidFill>
                  <a:srgbClr val="C00000"/>
                </a:solidFill>
                <a:latin typeface="微软雅黑"/>
              </a:rPr>
              <a:t>英国区关键结论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英国区下当前仅有 1 个代表处纳入统计，为 UK Project Business Department，已覆盖比例为 4.00%。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当前需重点跟进的代表处：UK Project Business Department（4.00%）。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认证推进最快的代表处是 UK Project Business Department（0.00%）。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7551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代表处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NP客户数量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DHIA认证通过比列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55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UK Project Business Department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4.00%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西欧区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西欧区代表处客户培训覆盖情况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sz="1500" b="1">
                <a:solidFill>
                  <a:srgbClr val="C00000"/>
                </a:solidFill>
                <a:latin typeface="微软雅黑"/>
              </a:rPr>
              <a:t>西欧区关键结论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西欧区下各代表处按已覆盖比例排序后，最高为 Germany Group（11.11%），最低为 Italy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当前需重点跟进的代表处：Spain Group（3.57%）、Benelux Group（0.00%）、EU Solution Department（0.00%）。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认证推进最快的代表处是 Germany Group（0.00%）。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4433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代表处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NP客户数量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DHIA认证通过比列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43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Germany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11.11%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43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Spain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43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Benelux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43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EU Solution Department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443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France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43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Italy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大洋洲区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大洋洲区代表处客户培训覆盖情况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sz="1500" b="1">
                <a:solidFill>
                  <a:srgbClr val="C00000"/>
                </a:solidFill>
                <a:latin typeface="微软雅黑"/>
              </a:rPr>
              <a:t>大洋洲区关键结论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大洋洲区下各代表处按已覆盖比例排序后，最高为 OA Sales Management Department（25.00%），最低为 OA Channel Management Department（0.00%）。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进展较好的代表处：OA Sales Management Department（25.00%）；需重点跟进的代表处：Australia Group（0.00%）、New Zealand Group（0.00%）、OA Channel Management Department（0.00%）。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认证推进最快的代表处是 OA Sales Management Department（0.00%）。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代表处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NP客户数量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DHIA认证通过比列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OA Sales Management Department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25.00%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Australia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20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New Zealand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207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OA Channel Management Department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国际合作部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国际合作部代表处客户培训覆盖情况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sz="1500" b="1">
                <a:solidFill>
                  <a:srgbClr val="C00000"/>
                </a:solidFill>
                <a:latin typeface="微软雅黑"/>
              </a:rPr>
              <a:t>国际合作部关键结论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国际合作部下当前仅有 1 个代表处纳入统计，为 IC International Cooperation，已覆盖比例为 0.00%。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当前需重点跟进的代表处：IC International Cooperation（0.00%）。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认证推进最快的代表处是 IC International Cooperation（0.00%）。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7551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代表处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NP客户数量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DHIA认证通过比列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55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IC International Cooperation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7EBE9959-3C11-4BAA-B82C-7DED88547A86}"/>
              </a:ext>
            </a:extLst>
          </p:cNvPr>
          <p:cNvSpPr txBox="1"/>
          <p:nvPr/>
        </p:nvSpPr>
        <p:spPr>
          <a:xfrm>
            <a:off x="169380" y="793663"/>
            <a:ext cx="11838616" cy="4793125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0034133" cy="369332"/>
          </a:xfrm>
        </p:spPr>
        <p:txBody>
          <a:bodyPr/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方案-极客行动 | 墨西哥区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79530" y="918070"/>
            <a:ext cx="3773234" cy="27801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00000"/>
                </a:solidFill>
                <a:latin typeface="微软雅黑"/>
              </a:rPr>
              <a:t>墨西哥区代表处客户培训覆盖情况</a:t>
            </a:r>
          </a:p>
        </p:txBody>
      </p:sp>
      <p:sp>
        <p:nvSpPr>
          <p:cNvPr id="59" name="横卷形 86">
            <a:extLst>
              <a:ext uri="{FF2B5EF4-FFF2-40B4-BE49-F238E27FC236}">
                <a16:creationId xmlns:a16="http://schemas.microsoft.com/office/drawing/2014/main" id="{07E81FCD-8864-4869-8ABC-92697D30470F}"/>
              </a:ext>
            </a:extLst>
          </p:cNvPr>
          <p:cNvSpPr/>
          <p:nvPr/>
        </p:nvSpPr>
        <p:spPr>
          <a:xfrm>
            <a:off x="125040" y="787214"/>
            <a:ext cx="682680" cy="312798"/>
          </a:xfrm>
          <a:prstGeom prst="horizontalScroll">
            <a:avLst>
              <a:gd name="adj" fmla="val 19161"/>
            </a:avLst>
          </a:prstGeom>
          <a:solidFill>
            <a:srgbClr val="FF0000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极客掘金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59128-F61B-4CF1-8D33-B61278F8EA69}"/>
              </a:ext>
            </a:extLst>
          </p:cNvPr>
          <p:cNvSpPr txBox="1"/>
          <p:nvPr/>
        </p:nvSpPr>
        <p:spPr>
          <a:xfrm>
            <a:off x="7448803" y="884645"/>
            <a:ext cx="4439838" cy="1957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sz="1500" b="1">
                <a:solidFill>
                  <a:srgbClr val="C00000"/>
                </a:solidFill>
                <a:latin typeface="微软雅黑"/>
              </a:rPr>
              <a:t>墨西哥区关键结论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1. 墨西哥区下当前仅有 1 个代表处纳入统计，为 Mexico Group，已覆盖比例为 0.00%。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2. 当前需重点跟进的代表处：Mexico Group（0.00%）。</a:t>
            </a:r>
          </a:p>
          <a:p>
            <a:r>
              <a:rPr sz="1150">
                <a:solidFill>
                  <a:srgbClr val="000000"/>
                </a:solidFill>
                <a:latin typeface="微软雅黑"/>
              </a:rPr>
              <a:t>3. 认证推进最快的代表处是 Mexico Group（12.50%）。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0C9D4A-D8E1-42B1-BC2E-A1B8D74E5C61}"/>
              </a:ext>
            </a:extLst>
          </p:cNvPr>
          <p:cNvSpPr txBox="1"/>
          <p:nvPr/>
        </p:nvSpPr>
        <p:spPr>
          <a:xfrm>
            <a:off x="2834496" y="1237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03358" y="1271212"/>
          <a:ext cx="6595282" cy="3951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2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75515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代表处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NP客户数量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已覆盖比例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DHIA认证通过个数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微软雅黑"/>
                        </a:rPr>
                        <a:t>DHIA认证通过比列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5516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Mexico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  <a:latin typeface="微软雅黑"/>
                        </a:rPr>
                        <a:t>12.50%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18286</TotalTime>
  <Words>1558</Words>
  <Application>Microsoft Office PowerPoint</Application>
  <PresentationFormat>宽屏</PresentationFormat>
  <Paragraphs>591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整体情况</vt:lpstr>
      <vt:lpstr>方案-极客行动 | 中东北非区</vt:lpstr>
      <vt:lpstr>方案-极客行动 | 巴西区</vt:lpstr>
      <vt:lpstr>方案-极客行动 | 非洲区</vt:lpstr>
      <vt:lpstr>方案-极客行动 | 南洋区</vt:lpstr>
      <vt:lpstr>方案-极客行动 | 东南亚区</vt:lpstr>
      <vt:lpstr>方案-极客行动 | 拉美区</vt:lpstr>
      <vt:lpstr>方案-极客行动 | 东北欧区</vt:lpstr>
      <vt:lpstr>方案-极客行动 | 欧亚区</vt:lpstr>
      <vt:lpstr>方案-极客行动 | 英国区</vt:lpstr>
      <vt:lpstr>方案-极客行动 | 西欧区</vt:lpstr>
      <vt:lpstr>方案-极客行动 | 大洋洲区</vt:lpstr>
      <vt:lpstr>方案-极客行动 | 国际合作部</vt:lpstr>
      <vt:lpstr>方案-极客行动 | 墨西哥区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872</cp:revision>
  <dcterms:created xsi:type="dcterms:W3CDTF">2025-03-24T01:45:08Z</dcterms:created>
  <dcterms:modified xsi:type="dcterms:W3CDTF">2026-05-18T11:07:26Z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d46a6755_b77b54e0_e6176dfde2a49339caa56744052e0f1e02161a1a64ebe24ca9824ebeafd976ba_feb90e2d526a23a65c0974e1eba1da1cf311209f17348271c5aa47a223b93793</vt:lpwstr>
  </property>
  <property fmtid="{D5CDD505-2E9C-101B-9397-08002B2CF9AE}" pid="5" name="GSEDS_HWMT_d46a6755">
    <vt:lpwstr>f2457335_mFV3xD84Jyk3NspOmHv9qW5rvng=_8QYrr15fIzUrXb1P4gKfrrlCuFixJbQLDZi2AqV48m7HJqlKUdbg4YJwzWzuWB7wwef4t7ZrnKzMShlGdjpDRVwoqKE=_cc331b9d</vt:lpwstr>
  </property>
</Properties>
</file>