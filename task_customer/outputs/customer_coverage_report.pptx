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6" r:id="rId1"/>
  </p:sldMasterIdLst>
  <p:notesMasterIdLst>
    <p:notesMasterId r:id="rId3"/>
  </p:notesMasterIdLst>
  <p:sldIdLst>
    <p:sldId id="2071" r:id="rId2"/>
    <p:sldId id="2072" r:id="rId10"/>
    <p:sldId id="2073" r:id="rId11"/>
    <p:sldId id="2074" r:id="rId12"/>
    <p:sldId id="2075" r:id="rId13"/>
    <p:sldId id="2076" r:id="rId14"/>
    <p:sldId id="2077" r:id="rId15"/>
    <p:sldId id="2078" r:id="rId16"/>
    <p:sldId id="2079" r:id="rId17"/>
    <p:sldId id="2080" r:id="rId18"/>
    <p:sldId id="2081" r:id="rId19"/>
    <p:sldId id="2082" r:id="rId20"/>
    <p:sldId id="2083" r:id="rId21"/>
    <p:sldId id="2084" r:id="rId22"/>
    <p:sldId id="2085" r:id="rId23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李晶晶" initials="李晶晶" lastIdx="10" clrIdx="0"/>
  <p:cmAuthor id="7" name="Lillian Tong 童丽媛" initials="LT童" lastIdx="1" clrIdx="6"/>
  <p:cmAuthor id="272692294" name="LY。" initials="L" lastIdx="1" clrIdx="8"/>
  <p:cmAuthor id="1" name="32168" initials="3" lastIdx="2" clrIdx="0"/>
  <p:cmAuthor id="272692295" name="刘俊华1" initials="刘俊华1" lastIdx="1" clrIdx="9"/>
  <p:cmAuthor id="2" name="胡孙辽" initials="胡孙辽" lastIdx="1" clrIdx="1"/>
  <p:cmAuthor id="3" name="Star Chen 陈星1" initials="SC陈" lastIdx="1" clrIdx="2"/>
  <p:cmAuthor id="4" name="Mitchell Derrey" initials="MD" lastIdx="8" clrIdx="4"/>
  <p:cmAuthor id="5" name="NTKO" initials="黄艳灵" lastIdx="8" clrIdx="5"/>
  <p:cmAuthor id="6" name="28583" initials="2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0915"/>
    <a:srgbClr val="E6E6E6"/>
    <a:srgbClr val="000000"/>
    <a:srgbClr val="FFFFFF"/>
    <a:srgbClr val="5B9BD5"/>
    <a:srgbClr val="DCDCDC"/>
    <a:srgbClr val="F0F0F0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8" autoAdjust="0"/>
    <p:restoredTop sz="87192" autoAdjust="0"/>
  </p:normalViewPr>
  <p:slideViewPr>
    <p:cSldViewPr snapToGrid="0" showGuides="1">
      <p:cViewPr varScale="1">
        <p:scale>
          <a:sx n="63" d="100"/>
          <a:sy n="63" d="100"/>
        </p:scale>
        <p:origin x="696" y="60"/>
      </p:cViewPr>
      <p:guideLst>
        <p:guide orient="horz" pos="2183"/>
        <p:guide pos="3858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tags" Target="tags/tag1.xml"/><Relationship Id="rId5" Type="http://schemas.openxmlformats.org/officeDocument/2006/relationships/commentAuthors" Target="commentAuthors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F229D1-F6A1-4B4E-834C-DB826CE48B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746754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133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033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75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840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867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315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18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782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904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20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850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正文（单语言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575734" y="1004725"/>
            <a:ext cx="11040533" cy="4848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FontTx/>
              <a:buNone/>
              <a:defRPr sz="213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914400" indent="0"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37160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1828800" indent="0"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kumimoji="1" lang="zh-CN" altLang="en-US" dirty="0"/>
              <a:t>单击此处添加正文内容</a:t>
            </a:r>
          </a:p>
        </p:txBody>
      </p:sp>
      <p:cxnSp>
        <p:nvCxnSpPr>
          <p:cNvPr id="3" name="直接连接符 15"/>
          <p:cNvCxnSpPr/>
          <p:nvPr/>
        </p:nvCxnSpPr>
        <p:spPr>
          <a:xfrm flipV="1">
            <a:off x="575734" y="709514"/>
            <a:ext cx="8855457" cy="1"/>
          </a:xfrm>
          <a:prstGeom prst="line">
            <a:avLst/>
          </a:prstGeom>
          <a:ln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0800000" scaled="0"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5733" y="201154"/>
            <a:ext cx="9120000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单击此处添加正文标题</a:t>
            </a:r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7711" y="269844"/>
            <a:ext cx="1440000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91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33BAE-754A-49E5-8501-DAC62857D96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GSEDS_d46a6755_e6176dfd_1_7">
            <a:extLst>
              <a:ext uri="{FF2B5EF4-FFF2-40B4-BE49-F238E27FC236}">
                <a16:creationId xmlns:a16="http://schemas.microsoft.com/office/drawing/2014/main" id="{CC9ED313-2AAE-455D-B72C-49C69312DD5D}"/>
              </a:ext>
            </a:extLst>
          </p:cNvPr>
          <p:cNvSpPr txBox="1">
            <a:spLocks noChangeAspect="1"/>
          </p:cNvSpPr>
          <p:nvPr userDrawn="1"/>
        </p:nvSpPr>
        <p:spPr>
          <a:xfrm rot="18900000">
            <a:off x="2166078" y="2898086"/>
            <a:ext cx="7859844" cy="1061829"/>
          </a:xfrm>
          <a:prstGeom prst="rect">
            <a:avLst/>
          </a:prstGeom>
          <a:noFill/>
        </p:spPr>
        <p:txBody>
          <a:bodyPr vert="horz" wrap="none" rtlCol="0" anchor="ctr" anchorCtr="1">
            <a:spAutoFit/>
          </a:bodyPr>
          <a:lstStyle/>
          <a:p>
            <a:r>
              <a:rPr kumimoji="0" lang="en-US" altLang="zh-CN" sz="6300" b="0" i="0" u="none" normalizeH="0">
                <a:solidFill>
                  <a:srgbClr val="808080">
                    <a:alpha val="3137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20359    2026-05-18</a:t>
            </a:r>
            <a:endParaRPr kumimoji="0" lang="zh-CN" altLang="en-US" sz="6300" b="0" i="0" u="none" normalizeH="0">
              <a:solidFill>
                <a:srgbClr val="808080">
                  <a:alpha val="3137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382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文本框 59">
            <a:extLst>
              <a:ext uri="{FF2B5EF4-FFF2-40B4-BE49-F238E27FC236}">
                <a16:creationId xmlns:a16="http://schemas.microsoft.com/office/drawing/2014/main" id="{7EBE9959-3C11-4BAA-B82C-7DED88547A86}"/>
              </a:ext>
            </a:extLst>
          </p:cNvPr>
          <p:cNvSpPr txBox="1"/>
          <p:nvPr/>
        </p:nvSpPr>
        <p:spPr>
          <a:xfrm>
            <a:off x="169380" y="793663"/>
            <a:ext cx="11838616" cy="4793125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0034133" cy="369332"/>
          </a:xfrm>
        </p:spPr>
        <p:txBody>
          <a:bodyPr/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方案-极客行动 | 整体情况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579530" y="918070"/>
            <a:ext cx="3773234" cy="278016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000000"/>
                </a:solidFill>
                <a:latin typeface="微软雅黑"/>
              </a:rPr>
              <a:t>客户培训覆盖整体情况</a:t>
            </a:r>
          </a:p>
        </p:txBody>
      </p:sp>
      <p:sp>
        <p:nvSpPr>
          <p:cNvPr id="59" name="横卷形 86">
            <a:extLst>
              <a:ext uri="{FF2B5EF4-FFF2-40B4-BE49-F238E27FC236}">
                <a16:creationId xmlns:a16="http://schemas.microsoft.com/office/drawing/2014/main" id="{07E81FCD-8864-4869-8ABC-92697D30470F}"/>
              </a:ext>
            </a:extLst>
          </p:cNvPr>
          <p:cNvSpPr/>
          <p:nvPr/>
        </p:nvSpPr>
        <p:spPr>
          <a:xfrm>
            <a:off x="125040" y="787214"/>
            <a:ext cx="682680" cy="312798"/>
          </a:xfrm>
          <a:prstGeom prst="horizontalScroll">
            <a:avLst>
              <a:gd name="adj" fmla="val 19161"/>
            </a:avLst>
          </a:prstGeom>
          <a:solidFill>
            <a:srgbClr val="FF0000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极客掘金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76F59128-F61B-4CF1-8D33-B61278F8EA69}"/>
              </a:ext>
            </a:extLst>
          </p:cNvPr>
          <p:cNvSpPr txBox="1"/>
          <p:nvPr/>
        </p:nvSpPr>
        <p:spPr>
          <a:xfrm>
            <a:off x="7448803" y="884645"/>
            <a:ext cx="4439838" cy="1957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b="1" sz="1500">
                <a:solidFill>
                  <a:srgbClr val="C00000"/>
                </a:solidFill>
                <a:latin typeface="微软雅黑"/>
              </a:rPr>
              <a:t>整体关键结论</a:t>
            </a:r>
            <a:endParaRPr kumimoji="0" lang="en-US" altLang="zh-CN" sz="105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1. 各大区按已覆盖比例排序后，最高为 拉美区（51.85%），最低为 墨西哥区（0.00%）。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2. 进展较好的大区：拉美区（51.85%）、巴西区（36.84%）、南洋区（35.06%）；需重点跟进的大区：英国区（4.00%）、大洋洲区（2.56%）、国际合作部（0.00%）。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3. 认证推进最快的大区是 拉美区（74.07%）。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20C9D4A-D8E1-42B1-BC2E-A1B8D74E5C61}"/>
              </a:ext>
            </a:extLst>
          </p:cNvPr>
          <p:cNvSpPr txBox="1"/>
          <p:nvPr/>
        </p:nvSpPr>
        <p:spPr>
          <a:xfrm>
            <a:off x="2834496" y="12378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303358" y="1271212"/>
          <a:ext cx="6595282" cy="39510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4410"/>
                <a:gridCol w="824410"/>
                <a:gridCol w="824410"/>
                <a:gridCol w="824410"/>
                <a:gridCol w="824410"/>
                <a:gridCol w="824410"/>
                <a:gridCol w="824410"/>
                <a:gridCol w="824412"/>
              </a:tblGrid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微软雅黑"/>
                        </a:rPr>
                        <a:t>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微软雅黑"/>
                        </a:rPr>
                        <a:t>NP客户数量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微软雅黑"/>
                        </a:rPr>
                        <a:t>已覆盖个数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微软雅黑"/>
                        </a:rPr>
                        <a:t>已覆盖比例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微软雅黑"/>
                        </a:rPr>
                        <a:t>DHIA认证通过个数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微软雅黑"/>
                        </a:rPr>
                        <a:t>DHIA认证通过比列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微软雅黑"/>
                        </a:rPr>
                        <a:t>Software认证通过个数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微软雅黑"/>
                        </a:rPr>
                        <a:t>Software认证通过比例</a:t>
                      </a:r>
                    </a:p>
                  </a:txBody>
                  <a:tcPr/>
                </a:tc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拉美区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51.85%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74.07%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66.67%</a:t>
                      </a:r>
                    </a:p>
                  </a:txBody>
                  <a:tcPr/>
                </a:tc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巴西区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36.84%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52.63%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0.00%</a:t>
                      </a:r>
                    </a:p>
                  </a:txBody>
                  <a:tcPr/>
                </a:tc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南洋区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35.06%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12.99%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0.00%</a:t>
                      </a:r>
                    </a:p>
                  </a:txBody>
                  <a:tcPr/>
                </a:tc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非洲区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29.17%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12.50%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0.00%</a:t>
                      </a:r>
                    </a:p>
                  </a:txBody>
                  <a:tcPr/>
                </a:tc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中东北非区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23.33%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8.67%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2.67%</a:t>
                      </a:r>
                    </a:p>
                  </a:txBody>
                  <a:tcPr/>
                </a:tc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东南亚区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11.34%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3.09%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0.00%</a:t>
                      </a:r>
                    </a:p>
                  </a:txBody>
                  <a:tcPr/>
                </a:tc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欧亚区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8.70%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0.00%</a:t>
                      </a:r>
                    </a:p>
                  </a:txBody>
                  <a:tcPr/>
                </a:tc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东北欧区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6.56%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1.64%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0.00%</a:t>
                      </a:r>
                    </a:p>
                  </a:txBody>
                  <a:tcPr/>
                </a:tc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西欧区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5.88%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0.00%</a:t>
                      </a:r>
                    </a:p>
                  </a:txBody>
                  <a:tcPr/>
                </a:tc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英国区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4.00%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0.00%</a:t>
                      </a:r>
                    </a:p>
                  </a:txBody>
                  <a:tcPr/>
                </a:tc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大洋洲区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2.56%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2.56%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0.00%</a:t>
                      </a:r>
                    </a:p>
                  </a:txBody>
                  <a:tcPr/>
                </a:tc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国际合作部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0.00%</a:t>
                      </a:r>
                    </a:p>
                  </a:txBody>
                  <a:tcPr/>
                </a:tc>
              </a:tr>
              <a:tr h="28222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墨西哥区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62.50%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0.00%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5315041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0" name="文本框 59">
            <a:extLst>
              <a:ext uri="{FF2B5EF4-FFF2-40B4-BE49-F238E27FC236}">
                <a16:creationId xmlns:a16="http://schemas.microsoft.com/office/drawing/2014/main" id="{7EBE9959-3C11-4BAA-B82C-7DED88547A86}"/>
              </a:ext>
            </a:extLst>
          </p:cNvPr>
          <p:cNvSpPr txBox="1"/>
          <p:nvPr/>
        </p:nvSpPr>
        <p:spPr>
          <a:xfrm>
            <a:off x="169380" y="793663"/>
            <a:ext cx="11838616" cy="4793125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0034133" cy="369332"/>
          </a:xfrm>
        </p:spPr>
        <p:txBody>
          <a:bodyPr/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方案-极客行动 | 拉美区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579530" y="918070"/>
            <a:ext cx="3773234" cy="278016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000000"/>
                </a:solidFill>
                <a:latin typeface="微软雅黑"/>
              </a:rPr>
              <a:t>拉美区代表处客户培训覆盖情况</a:t>
            </a:r>
          </a:p>
        </p:txBody>
      </p:sp>
      <p:sp>
        <p:nvSpPr>
          <p:cNvPr id="59" name="横卷形 86">
            <a:extLst>
              <a:ext uri="{FF2B5EF4-FFF2-40B4-BE49-F238E27FC236}">
                <a16:creationId xmlns:a16="http://schemas.microsoft.com/office/drawing/2014/main" id="{07E81FCD-8864-4869-8ABC-92697D30470F}"/>
              </a:ext>
            </a:extLst>
          </p:cNvPr>
          <p:cNvSpPr/>
          <p:nvPr/>
        </p:nvSpPr>
        <p:spPr>
          <a:xfrm>
            <a:off x="125040" y="787214"/>
            <a:ext cx="682680" cy="312798"/>
          </a:xfrm>
          <a:prstGeom prst="horizontalScroll">
            <a:avLst>
              <a:gd name="adj" fmla="val 19161"/>
            </a:avLst>
          </a:prstGeom>
          <a:solidFill>
            <a:srgbClr val="FF0000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极客掘金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76F59128-F61B-4CF1-8D33-B61278F8EA69}"/>
              </a:ext>
            </a:extLst>
          </p:cNvPr>
          <p:cNvSpPr txBox="1"/>
          <p:nvPr/>
        </p:nvSpPr>
        <p:spPr>
          <a:xfrm>
            <a:off x="7448803" y="884645"/>
            <a:ext cx="4439838" cy="1957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b="1" sz="1500">
                <a:solidFill>
                  <a:srgbClr val="C00000"/>
                </a:solidFill>
                <a:latin typeface="微软雅黑"/>
              </a:rPr>
              <a:t>拉美区关键结论</a:t>
            </a:r>
            <a:endParaRPr kumimoji="0" lang="en-US" altLang="zh-CN" sz="105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1. 拉美区下各代表处按已覆盖比例排序后，最高为 Chile Group（100.00%），最低为 Central America Group（15.38%）。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2. 进展较好的代表处：Chile Group（100.00%）、Colombia Group（77.78%）、Peru Group（53.33%）。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3. 认证推进最快的代表处是 Chile Group（100.00%）。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20C9D4A-D8E1-42B1-BC2E-A1B8D74E5C61}"/>
              </a:ext>
            </a:extLst>
          </p:cNvPr>
          <p:cNvSpPr txBox="1"/>
          <p:nvPr/>
        </p:nvSpPr>
        <p:spPr>
          <a:xfrm>
            <a:off x="2834496" y="12378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303358" y="1271212"/>
          <a:ext cx="6595282" cy="39510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213"/>
                <a:gridCol w="1099213"/>
                <a:gridCol w="1099213"/>
                <a:gridCol w="1099213"/>
                <a:gridCol w="1099213"/>
                <a:gridCol w="1099217"/>
              </a:tblGrid>
              <a:tr h="658505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代表处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NP客户数量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已覆盖个数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已覆盖比例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DHIA认证通过个数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DHIA认证通过比列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505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Chile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100.00%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100.00%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505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Colombia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77.78%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77.78%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505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Peru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53.33%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73.33%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505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Argentina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33.33%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55.56%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506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Central America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15.38%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69.23%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0" name="文本框 59">
            <a:extLst>
              <a:ext uri="{FF2B5EF4-FFF2-40B4-BE49-F238E27FC236}">
                <a16:creationId xmlns:a16="http://schemas.microsoft.com/office/drawing/2014/main" id="{7EBE9959-3C11-4BAA-B82C-7DED88547A86}"/>
              </a:ext>
            </a:extLst>
          </p:cNvPr>
          <p:cNvSpPr txBox="1"/>
          <p:nvPr/>
        </p:nvSpPr>
        <p:spPr>
          <a:xfrm>
            <a:off x="169380" y="793663"/>
            <a:ext cx="11838616" cy="4793125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0034133" cy="369332"/>
          </a:xfrm>
        </p:spPr>
        <p:txBody>
          <a:bodyPr/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方案-极客行动 | 巴西区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579530" y="918070"/>
            <a:ext cx="3773234" cy="278016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000000"/>
                </a:solidFill>
                <a:latin typeface="微软雅黑"/>
              </a:rPr>
              <a:t>巴西区代表处客户培训覆盖情况</a:t>
            </a:r>
          </a:p>
        </p:txBody>
      </p:sp>
      <p:sp>
        <p:nvSpPr>
          <p:cNvPr id="59" name="横卷形 86">
            <a:extLst>
              <a:ext uri="{FF2B5EF4-FFF2-40B4-BE49-F238E27FC236}">
                <a16:creationId xmlns:a16="http://schemas.microsoft.com/office/drawing/2014/main" id="{07E81FCD-8864-4869-8ABC-92697D30470F}"/>
              </a:ext>
            </a:extLst>
          </p:cNvPr>
          <p:cNvSpPr/>
          <p:nvPr/>
        </p:nvSpPr>
        <p:spPr>
          <a:xfrm>
            <a:off x="125040" y="787214"/>
            <a:ext cx="682680" cy="312798"/>
          </a:xfrm>
          <a:prstGeom prst="horizontalScroll">
            <a:avLst>
              <a:gd name="adj" fmla="val 19161"/>
            </a:avLst>
          </a:prstGeom>
          <a:solidFill>
            <a:srgbClr val="FF0000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极客掘金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76F59128-F61B-4CF1-8D33-B61278F8EA69}"/>
              </a:ext>
            </a:extLst>
          </p:cNvPr>
          <p:cNvSpPr txBox="1"/>
          <p:nvPr/>
        </p:nvSpPr>
        <p:spPr>
          <a:xfrm>
            <a:off x="7448803" y="884645"/>
            <a:ext cx="4439838" cy="1957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b="1" sz="1500">
                <a:solidFill>
                  <a:srgbClr val="C00000"/>
                </a:solidFill>
                <a:latin typeface="微软雅黑"/>
              </a:rPr>
              <a:t>巴西区关键结论</a:t>
            </a:r>
            <a:endParaRPr kumimoji="0" lang="en-US" altLang="zh-CN" sz="105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1. 巴西区下当前仅有 1 个代表处纳入统计，为 Brazil Group，已覆盖比例为 36.84%。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2. 进展较好的代表处：Brazil Group（36.84%）。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3. 认证推进最快的代表处是 Brazil Group（52.63%）。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20C9D4A-D8E1-42B1-BC2E-A1B8D74E5C61}"/>
              </a:ext>
            </a:extLst>
          </p:cNvPr>
          <p:cNvSpPr txBox="1"/>
          <p:nvPr/>
        </p:nvSpPr>
        <p:spPr>
          <a:xfrm>
            <a:off x="2834496" y="12378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303358" y="1271212"/>
          <a:ext cx="6595282" cy="39510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213"/>
                <a:gridCol w="1099213"/>
                <a:gridCol w="1099213"/>
                <a:gridCol w="1099213"/>
                <a:gridCol w="1099213"/>
                <a:gridCol w="1099217"/>
              </a:tblGrid>
              <a:tr h="1975515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代表处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NP客户数量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已覆盖个数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已覆盖比例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DHIA认证通过个数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DHIA认证通过比列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75516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Brazil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36.84%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52.63%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0" name="文本框 59">
            <a:extLst>
              <a:ext uri="{FF2B5EF4-FFF2-40B4-BE49-F238E27FC236}">
                <a16:creationId xmlns:a16="http://schemas.microsoft.com/office/drawing/2014/main" id="{7EBE9959-3C11-4BAA-B82C-7DED88547A86}"/>
              </a:ext>
            </a:extLst>
          </p:cNvPr>
          <p:cNvSpPr txBox="1"/>
          <p:nvPr/>
        </p:nvSpPr>
        <p:spPr>
          <a:xfrm>
            <a:off x="169380" y="793663"/>
            <a:ext cx="11838616" cy="4793125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0034133" cy="369332"/>
          </a:xfrm>
        </p:spPr>
        <p:txBody>
          <a:bodyPr/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方案-极客行动 | 南洋区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579530" y="918070"/>
            <a:ext cx="3773234" cy="278016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000000"/>
                </a:solidFill>
                <a:latin typeface="微软雅黑"/>
              </a:rPr>
              <a:t>南洋区代表处客户培训覆盖情况</a:t>
            </a:r>
          </a:p>
        </p:txBody>
      </p:sp>
      <p:sp>
        <p:nvSpPr>
          <p:cNvPr id="59" name="横卷形 86">
            <a:extLst>
              <a:ext uri="{FF2B5EF4-FFF2-40B4-BE49-F238E27FC236}">
                <a16:creationId xmlns:a16="http://schemas.microsoft.com/office/drawing/2014/main" id="{07E81FCD-8864-4869-8ABC-92697D30470F}"/>
              </a:ext>
            </a:extLst>
          </p:cNvPr>
          <p:cNvSpPr/>
          <p:nvPr/>
        </p:nvSpPr>
        <p:spPr>
          <a:xfrm>
            <a:off x="125040" y="787214"/>
            <a:ext cx="682680" cy="312798"/>
          </a:xfrm>
          <a:prstGeom prst="horizontalScroll">
            <a:avLst>
              <a:gd name="adj" fmla="val 19161"/>
            </a:avLst>
          </a:prstGeom>
          <a:solidFill>
            <a:srgbClr val="FF0000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极客掘金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76F59128-F61B-4CF1-8D33-B61278F8EA69}"/>
              </a:ext>
            </a:extLst>
          </p:cNvPr>
          <p:cNvSpPr txBox="1"/>
          <p:nvPr/>
        </p:nvSpPr>
        <p:spPr>
          <a:xfrm>
            <a:off x="7448803" y="884645"/>
            <a:ext cx="4439838" cy="1957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b="1" sz="1500">
                <a:solidFill>
                  <a:srgbClr val="C00000"/>
                </a:solidFill>
                <a:latin typeface="微软雅黑"/>
              </a:rPr>
              <a:t>南洋区关键结论</a:t>
            </a:r>
            <a:endParaRPr kumimoji="0" lang="en-US" altLang="zh-CN" sz="105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1. 南洋区下各代表处按已覆盖比例排序后，最高为 Indonesia Group（45.83%），最低为 Singapore Group（0.00%）。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2. 进展较好的代表处：Indonesia Group（45.83%）、Malaysia Group（36.36%）、Philippines Group（33.33%）；需重点跟进的代表处：Singapore Group（0.00%）。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3. 认证推进最快的代表处是 Indonesia Group（29.17%）。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20C9D4A-D8E1-42B1-BC2E-A1B8D74E5C61}"/>
              </a:ext>
            </a:extLst>
          </p:cNvPr>
          <p:cNvSpPr txBox="1"/>
          <p:nvPr/>
        </p:nvSpPr>
        <p:spPr>
          <a:xfrm>
            <a:off x="2834496" y="12378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303358" y="1271212"/>
          <a:ext cx="6595282" cy="39510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213"/>
                <a:gridCol w="1099213"/>
                <a:gridCol w="1099213"/>
                <a:gridCol w="1099213"/>
                <a:gridCol w="1099213"/>
                <a:gridCol w="1099217"/>
              </a:tblGrid>
              <a:tr h="790206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代表处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NP客户数量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已覆盖个数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已覆盖比例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DHIA认证通过个数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DHIA认证通过比列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0206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Indonesia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45.83%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29.17%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0206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Malaysia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36.36%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4.55%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0206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Philippines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33.33%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8.33%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0207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Singapore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0" name="文本框 59">
            <a:extLst>
              <a:ext uri="{FF2B5EF4-FFF2-40B4-BE49-F238E27FC236}">
                <a16:creationId xmlns:a16="http://schemas.microsoft.com/office/drawing/2014/main" id="{7EBE9959-3C11-4BAA-B82C-7DED88547A86}"/>
              </a:ext>
            </a:extLst>
          </p:cNvPr>
          <p:cNvSpPr txBox="1"/>
          <p:nvPr/>
        </p:nvSpPr>
        <p:spPr>
          <a:xfrm>
            <a:off x="169380" y="793663"/>
            <a:ext cx="11838616" cy="4793125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0034133" cy="369332"/>
          </a:xfrm>
        </p:spPr>
        <p:txBody>
          <a:bodyPr/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方案-极客行动 | 非洲区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579530" y="918070"/>
            <a:ext cx="3773234" cy="278016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000000"/>
                </a:solidFill>
                <a:latin typeface="微软雅黑"/>
              </a:rPr>
              <a:t>非洲区代表处客户培训覆盖情况</a:t>
            </a:r>
          </a:p>
        </p:txBody>
      </p:sp>
      <p:sp>
        <p:nvSpPr>
          <p:cNvPr id="59" name="横卷形 86">
            <a:extLst>
              <a:ext uri="{FF2B5EF4-FFF2-40B4-BE49-F238E27FC236}">
                <a16:creationId xmlns:a16="http://schemas.microsoft.com/office/drawing/2014/main" id="{07E81FCD-8864-4869-8ABC-92697D30470F}"/>
              </a:ext>
            </a:extLst>
          </p:cNvPr>
          <p:cNvSpPr/>
          <p:nvPr/>
        </p:nvSpPr>
        <p:spPr>
          <a:xfrm>
            <a:off x="125040" y="787214"/>
            <a:ext cx="682680" cy="312798"/>
          </a:xfrm>
          <a:prstGeom prst="horizontalScroll">
            <a:avLst>
              <a:gd name="adj" fmla="val 19161"/>
            </a:avLst>
          </a:prstGeom>
          <a:solidFill>
            <a:srgbClr val="FF0000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极客掘金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76F59128-F61B-4CF1-8D33-B61278F8EA69}"/>
              </a:ext>
            </a:extLst>
          </p:cNvPr>
          <p:cNvSpPr txBox="1"/>
          <p:nvPr/>
        </p:nvSpPr>
        <p:spPr>
          <a:xfrm>
            <a:off x="7448803" y="884645"/>
            <a:ext cx="4439838" cy="1957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b="1" sz="1500">
                <a:solidFill>
                  <a:srgbClr val="C00000"/>
                </a:solidFill>
                <a:latin typeface="微软雅黑"/>
              </a:rPr>
              <a:t>非洲区关键结论</a:t>
            </a:r>
            <a:endParaRPr kumimoji="0" lang="en-US" altLang="zh-CN" sz="105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1. 非洲区下各代表处按已覆盖比例排序后，最高为 Tanzania Group（50.00%），最低为 Nigeria Group（0.00%）。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2. 进展较好的代表处：Tanzania Group（50.00%）、Kenya Group（44.44%）、South Africa Group（20.00%）；需重点跟进的代表处：Nigeria Group（0.00%）。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3. 认证推进最快的代表处是 Tanzania Group（75.00%）。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20C9D4A-D8E1-42B1-BC2E-A1B8D74E5C61}"/>
              </a:ext>
            </a:extLst>
          </p:cNvPr>
          <p:cNvSpPr txBox="1"/>
          <p:nvPr/>
        </p:nvSpPr>
        <p:spPr>
          <a:xfrm>
            <a:off x="2834496" y="12378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303358" y="1271212"/>
          <a:ext cx="6595282" cy="39510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213"/>
                <a:gridCol w="1099213"/>
                <a:gridCol w="1099213"/>
                <a:gridCol w="1099213"/>
                <a:gridCol w="1099213"/>
                <a:gridCol w="1099217"/>
              </a:tblGrid>
              <a:tr h="790206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代表处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NP客户数量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已覆盖个数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已覆盖比例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DHIA认证通过个数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DHIA认证通过比列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0206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Tanzania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50.00%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75.00%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0206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Kenya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44.44%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0206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South Africa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20.00%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0207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Nigeria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0" name="文本框 59">
            <a:extLst>
              <a:ext uri="{FF2B5EF4-FFF2-40B4-BE49-F238E27FC236}">
                <a16:creationId xmlns:a16="http://schemas.microsoft.com/office/drawing/2014/main" id="{7EBE9959-3C11-4BAA-B82C-7DED88547A86}"/>
              </a:ext>
            </a:extLst>
          </p:cNvPr>
          <p:cNvSpPr txBox="1"/>
          <p:nvPr/>
        </p:nvSpPr>
        <p:spPr>
          <a:xfrm>
            <a:off x="169380" y="793663"/>
            <a:ext cx="11838616" cy="4793125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0034133" cy="369332"/>
          </a:xfrm>
        </p:spPr>
        <p:txBody>
          <a:bodyPr/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方案-极客行动 | 中东北非区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579530" y="918070"/>
            <a:ext cx="3773234" cy="278016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000000"/>
                </a:solidFill>
                <a:latin typeface="微软雅黑"/>
              </a:rPr>
              <a:t>中东北非区代表处客户培训覆盖情况</a:t>
            </a:r>
          </a:p>
        </p:txBody>
      </p:sp>
      <p:sp>
        <p:nvSpPr>
          <p:cNvPr id="59" name="横卷形 86">
            <a:extLst>
              <a:ext uri="{FF2B5EF4-FFF2-40B4-BE49-F238E27FC236}">
                <a16:creationId xmlns:a16="http://schemas.microsoft.com/office/drawing/2014/main" id="{07E81FCD-8864-4869-8ABC-92697D30470F}"/>
              </a:ext>
            </a:extLst>
          </p:cNvPr>
          <p:cNvSpPr/>
          <p:nvPr/>
        </p:nvSpPr>
        <p:spPr>
          <a:xfrm>
            <a:off x="125040" y="787214"/>
            <a:ext cx="682680" cy="312798"/>
          </a:xfrm>
          <a:prstGeom prst="horizontalScroll">
            <a:avLst>
              <a:gd name="adj" fmla="val 19161"/>
            </a:avLst>
          </a:prstGeom>
          <a:solidFill>
            <a:srgbClr val="FF0000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极客掘金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76F59128-F61B-4CF1-8D33-B61278F8EA69}"/>
              </a:ext>
            </a:extLst>
          </p:cNvPr>
          <p:cNvSpPr txBox="1"/>
          <p:nvPr/>
        </p:nvSpPr>
        <p:spPr>
          <a:xfrm>
            <a:off x="7448803" y="884645"/>
            <a:ext cx="4439838" cy="1957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b="1" sz="1500">
                <a:solidFill>
                  <a:srgbClr val="C00000"/>
                </a:solidFill>
                <a:latin typeface="微软雅黑"/>
              </a:rPr>
              <a:t>中东北非区关键结论</a:t>
            </a:r>
            <a:endParaRPr kumimoji="0" lang="en-US" altLang="zh-CN" sz="105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1. 中东北非区下各代表处按已覆盖比例排序后，最高为 Tunisia Group（50.00%），最低为 Pakistan Group（0.00%）。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2. 进展较好的代表处：Tunisia Group（50.00%）、East Mediterranean Group（50.00%）、Morocco Group（33.33%）；需重点跟进的代表处：Pakistan Group（0.00%）。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3. 认证推进最快的代表处是 Tunisia Group（18.75%）。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20C9D4A-D8E1-42B1-BC2E-A1B8D74E5C61}"/>
              </a:ext>
            </a:extLst>
          </p:cNvPr>
          <p:cNvSpPr txBox="1"/>
          <p:nvPr/>
        </p:nvSpPr>
        <p:spPr>
          <a:xfrm>
            <a:off x="2834496" y="12378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303358" y="1271212"/>
          <a:ext cx="6595282" cy="39510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213"/>
                <a:gridCol w="1099213"/>
                <a:gridCol w="1099213"/>
                <a:gridCol w="1099213"/>
                <a:gridCol w="1099213"/>
                <a:gridCol w="1099217"/>
              </a:tblGrid>
              <a:tr h="439003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代表处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NP客户数量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已覆盖个数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已覆盖比例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DHIA认证通过个数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DHIA认证通过比列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900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Tunisia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50.00%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18.75%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900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East Mediterranean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50.00%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900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Morocco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33.33%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8.33%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900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UAE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29.73%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8.11%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900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Egypt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20.00%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900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Qatar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13.33%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900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Saudi Arabia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8.11%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8.11%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9007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Pakistan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15.38%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0" name="文本框 59">
            <a:extLst>
              <a:ext uri="{FF2B5EF4-FFF2-40B4-BE49-F238E27FC236}">
                <a16:creationId xmlns:a16="http://schemas.microsoft.com/office/drawing/2014/main" id="{7EBE9959-3C11-4BAA-B82C-7DED88547A86}"/>
              </a:ext>
            </a:extLst>
          </p:cNvPr>
          <p:cNvSpPr txBox="1"/>
          <p:nvPr/>
        </p:nvSpPr>
        <p:spPr>
          <a:xfrm>
            <a:off x="169380" y="793663"/>
            <a:ext cx="11838616" cy="4793125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0034133" cy="369332"/>
          </a:xfrm>
        </p:spPr>
        <p:txBody>
          <a:bodyPr/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方案-极客行动 | 东南亚区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579530" y="918070"/>
            <a:ext cx="3773234" cy="278016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000000"/>
                </a:solidFill>
                <a:latin typeface="微软雅黑"/>
              </a:rPr>
              <a:t>东南亚区代表处客户培训覆盖情况</a:t>
            </a:r>
          </a:p>
        </p:txBody>
      </p:sp>
      <p:sp>
        <p:nvSpPr>
          <p:cNvPr id="59" name="横卷形 86">
            <a:extLst>
              <a:ext uri="{FF2B5EF4-FFF2-40B4-BE49-F238E27FC236}">
                <a16:creationId xmlns:a16="http://schemas.microsoft.com/office/drawing/2014/main" id="{07E81FCD-8864-4869-8ABC-92697D30470F}"/>
              </a:ext>
            </a:extLst>
          </p:cNvPr>
          <p:cNvSpPr/>
          <p:nvPr/>
        </p:nvSpPr>
        <p:spPr>
          <a:xfrm>
            <a:off x="125040" y="787214"/>
            <a:ext cx="682680" cy="312798"/>
          </a:xfrm>
          <a:prstGeom prst="horizontalScroll">
            <a:avLst>
              <a:gd name="adj" fmla="val 19161"/>
            </a:avLst>
          </a:prstGeom>
          <a:solidFill>
            <a:srgbClr val="FF0000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极客掘金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76F59128-F61B-4CF1-8D33-B61278F8EA69}"/>
              </a:ext>
            </a:extLst>
          </p:cNvPr>
          <p:cNvSpPr txBox="1"/>
          <p:nvPr/>
        </p:nvSpPr>
        <p:spPr>
          <a:xfrm>
            <a:off x="7448803" y="884645"/>
            <a:ext cx="4439838" cy="1957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b="1" sz="1500">
                <a:solidFill>
                  <a:srgbClr val="C00000"/>
                </a:solidFill>
                <a:latin typeface="微软雅黑"/>
              </a:rPr>
              <a:t>东南亚区关键结论</a:t>
            </a:r>
            <a:endParaRPr kumimoji="0" lang="en-US" altLang="zh-CN" sz="105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1. 东南亚区下各代表处按已覆盖比例排序后，最高为 Indo-China Peninsula Group（33.33%），最低为 Japan Group（0.00%）。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2. 进展较好的代表处：Indo-China Peninsula Group（33.33%）、Vietnam Group（18.75%）；需重点跟进的代表处：Hong Kong Group（4.55%）、Japan Group（0.00%）。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3. 认证推进最快的代表处是 South Asian Association Group（14.29%）。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20C9D4A-D8E1-42B1-BC2E-A1B8D74E5C61}"/>
              </a:ext>
            </a:extLst>
          </p:cNvPr>
          <p:cNvSpPr txBox="1"/>
          <p:nvPr/>
        </p:nvSpPr>
        <p:spPr>
          <a:xfrm>
            <a:off x="2834496" y="12378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303358" y="1271212"/>
          <a:ext cx="6595282" cy="39510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213"/>
                <a:gridCol w="1099213"/>
                <a:gridCol w="1099213"/>
                <a:gridCol w="1099213"/>
                <a:gridCol w="1099213"/>
                <a:gridCol w="1099217"/>
              </a:tblGrid>
              <a:tr h="493878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代表处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NP客户数量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已覆盖个数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已覆盖比例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DHIA认证通过个数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DHIA认证通过比列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87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Indo-China Peninsula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33.33%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87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Vietnam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18.75%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6.25%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87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South Korea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14.29%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87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Thailand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12.50%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87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South Asian Association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7.14%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14.29%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87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Hong Kong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4.55%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885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Japan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0" name="文本框 59">
            <a:extLst>
              <a:ext uri="{FF2B5EF4-FFF2-40B4-BE49-F238E27FC236}">
                <a16:creationId xmlns:a16="http://schemas.microsoft.com/office/drawing/2014/main" id="{7EBE9959-3C11-4BAA-B82C-7DED88547A86}"/>
              </a:ext>
            </a:extLst>
          </p:cNvPr>
          <p:cNvSpPr txBox="1"/>
          <p:nvPr/>
        </p:nvSpPr>
        <p:spPr>
          <a:xfrm>
            <a:off x="169380" y="793663"/>
            <a:ext cx="11838616" cy="4793125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0034133" cy="369332"/>
          </a:xfrm>
        </p:spPr>
        <p:txBody>
          <a:bodyPr/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方案-极客行动 | 欧亚区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579530" y="918070"/>
            <a:ext cx="3773234" cy="278016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000000"/>
                </a:solidFill>
                <a:latin typeface="微软雅黑"/>
              </a:rPr>
              <a:t>欧亚区代表处客户培训覆盖情况</a:t>
            </a:r>
          </a:p>
        </p:txBody>
      </p:sp>
      <p:sp>
        <p:nvSpPr>
          <p:cNvPr id="59" name="横卷形 86">
            <a:extLst>
              <a:ext uri="{FF2B5EF4-FFF2-40B4-BE49-F238E27FC236}">
                <a16:creationId xmlns:a16="http://schemas.microsoft.com/office/drawing/2014/main" id="{07E81FCD-8864-4869-8ABC-92697D30470F}"/>
              </a:ext>
            </a:extLst>
          </p:cNvPr>
          <p:cNvSpPr/>
          <p:nvPr/>
        </p:nvSpPr>
        <p:spPr>
          <a:xfrm>
            <a:off x="125040" y="787214"/>
            <a:ext cx="682680" cy="312798"/>
          </a:xfrm>
          <a:prstGeom prst="horizontalScroll">
            <a:avLst>
              <a:gd name="adj" fmla="val 19161"/>
            </a:avLst>
          </a:prstGeom>
          <a:solidFill>
            <a:srgbClr val="FF0000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极客掘金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76F59128-F61B-4CF1-8D33-B61278F8EA69}"/>
              </a:ext>
            </a:extLst>
          </p:cNvPr>
          <p:cNvSpPr txBox="1"/>
          <p:nvPr/>
        </p:nvSpPr>
        <p:spPr>
          <a:xfrm>
            <a:off x="7448803" y="884645"/>
            <a:ext cx="4439838" cy="1957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b="1" sz="1500">
                <a:solidFill>
                  <a:srgbClr val="C00000"/>
                </a:solidFill>
                <a:latin typeface="微软雅黑"/>
              </a:rPr>
              <a:t>欧亚区关键结论</a:t>
            </a:r>
            <a:endParaRPr kumimoji="0" lang="en-US" altLang="zh-CN" sz="105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1. 欧亚区下各代表处按已覆盖比例排序后，最高为 Ukraine Group（20.00%），最低为 Uzbekistan Group（0.00%）。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2. 进展较好的代表处：Ukraine Group（20.00%）；需重点跟进的代表处：Baltics Group（0.00%）、Uzbekistan Group（0.00%）。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3. 认证推进最快的代表处是 Ukraine Group（0.00%）。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20C9D4A-D8E1-42B1-BC2E-A1B8D74E5C61}"/>
              </a:ext>
            </a:extLst>
          </p:cNvPr>
          <p:cNvSpPr txBox="1"/>
          <p:nvPr/>
        </p:nvSpPr>
        <p:spPr>
          <a:xfrm>
            <a:off x="2834496" y="12378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303358" y="1271212"/>
          <a:ext cx="6595282" cy="39510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213"/>
                <a:gridCol w="1099213"/>
                <a:gridCol w="1099213"/>
                <a:gridCol w="1099213"/>
                <a:gridCol w="1099213"/>
                <a:gridCol w="1099217"/>
              </a:tblGrid>
              <a:tr h="790206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代表处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NP客户数量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已覆盖个数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已覆盖比例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DHIA认证通过个数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DHIA认证通过比列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0206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Ukraine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20.00%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0206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Kazakhstan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9.09%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0206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Baltics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0207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Uzbekistan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0" name="文本框 59">
            <a:extLst>
              <a:ext uri="{FF2B5EF4-FFF2-40B4-BE49-F238E27FC236}">
                <a16:creationId xmlns:a16="http://schemas.microsoft.com/office/drawing/2014/main" id="{7EBE9959-3C11-4BAA-B82C-7DED88547A86}"/>
              </a:ext>
            </a:extLst>
          </p:cNvPr>
          <p:cNvSpPr txBox="1"/>
          <p:nvPr/>
        </p:nvSpPr>
        <p:spPr>
          <a:xfrm>
            <a:off x="169380" y="793663"/>
            <a:ext cx="11838616" cy="4793125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0034133" cy="369332"/>
          </a:xfrm>
        </p:spPr>
        <p:txBody>
          <a:bodyPr/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方案-极客行动 | 东北欧区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579530" y="918070"/>
            <a:ext cx="3773234" cy="278016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000000"/>
                </a:solidFill>
                <a:latin typeface="微软雅黑"/>
              </a:rPr>
              <a:t>东北欧区代表处客户培训覆盖情况</a:t>
            </a:r>
          </a:p>
        </p:txBody>
      </p:sp>
      <p:sp>
        <p:nvSpPr>
          <p:cNvPr id="59" name="横卷形 86">
            <a:extLst>
              <a:ext uri="{FF2B5EF4-FFF2-40B4-BE49-F238E27FC236}">
                <a16:creationId xmlns:a16="http://schemas.microsoft.com/office/drawing/2014/main" id="{07E81FCD-8864-4869-8ABC-92697D30470F}"/>
              </a:ext>
            </a:extLst>
          </p:cNvPr>
          <p:cNvSpPr/>
          <p:nvPr/>
        </p:nvSpPr>
        <p:spPr>
          <a:xfrm>
            <a:off x="125040" y="787214"/>
            <a:ext cx="682680" cy="312798"/>
          </a:xfrm>
          <a:prstGeom prst="horizontalScroll">
            <a:avLst>
              <a:gd name="adj" fmla="val 19161"/>
            </a:avLst>
          </a:prstGeom>
          <a:solidFill>
            <a:srgbClr val="FF0000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极客掘金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76F59128-F61B-4CF1-8D33-B61278F8EA69}"/>
              </a:ext>
            </a:extLst>
          </p:cNvPr>
          <p:cNvSpPr txBox="1"/>
          <p:nvPr/>
        </p:nvSpPr>
        <p:spPr>
          <a:xfrm>
            <a:off x="7448803" y="884645"/>
            <a:ext cx="4439838" cy="1957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b="1" sz="1500">
                <a:solidFill>
                  <a:srgbClr val="C00000"/>
                </a:solidFill>
                <a:latin typeface="微软雅黑"/>
              </a:rPr>
              <a:t>东北欧区关键结论</a:t>
            </a:r>
            <a:endParaRPr kumimoji="0" lang="en-US" altLang="zh-CN" sz="105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1. 东北欧区下各代表处按已覆盖比例排序后，最高为 Turkey Group（17.39%），最低为 Serbia Group（0.00%）。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2. 进展较好的代表处：Turkey Group（17.39%）；需重点跟进的代表处：Balkan Group（0.00%）、Czech Group（0.00%）、Hungary Group（0.00%）。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3. 认证推进最快的代表处是 Turkey Group（4.35%）。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20C9D4A-D8E1-42B1-BC2E-A1B8D74E5C61}"/>
              </a:ext>
            </a:extLst>
          </p:cNvPr>
          <p:cNvSpPr txBox="1"/>
          <p:nvPr/>
        </p:nvSpPr>
        <p:spPr>
          <a:xfrm>
            <a:off x="2834496" y="12378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303358" y="1271212"/>
          <a:ext cx="6595282" cy="39510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213"/>
                <a:gridCol w="1099213"/>
                <a:gridCol w="1099213"/>
                <a:gridCol w="1099213"/>
                <a:gridCol w="1099213"/>
                <a:gridCol w="1099217"/>
              </a:tblGrid>
              <a:tr h="395103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代表处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NP客户数量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已覆盖个数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已覆盖比例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DHIA认证通过个数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DHIA认证通过比列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510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Turkey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17.39%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4.35%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510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Balkan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510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Czech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510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Hungary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510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Israel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510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Nordic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510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Poland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510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Romania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5104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Serbia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0" name="文本框 59">
            <a:extLst>
              <a:ext uri="{FF2B5EF4-FFF2-40B4-BE49-F238E27FC236}">
                <a16:creationId xmlns:a16="http://schemas.microsoft.com/office/drawing/2014/main" id="{7EBE9959-3C11-4BAA-B82C-7DED88547A86}"/>
              </a:ext>
            </a:extLst>
          </p:cNvPr>
          <p:cNvSpPr txBox="1"/>
          <p:nvPr/>
        </p:nvSpPr>
        <p:spPr>
          <a:xfrm>
            <a:off x="169380" y="793663"/>
            <a:ext cx="11838616" cy="4793125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0034133" cy="369332"/>
          </a:xfrm>
        </p:spPr>
        <p:txBody>
          <a:bodyPr/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方案-极客行动 | 西欧区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579530" y="918070"/>
            <a:ext cx="3773234" cy="278016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000000"/>
                </a:solidFill>
                <a:latin typeface="微软雅黑"/>
              </a:rPr>
              <a:t>西欧区代表处客户培训覆盖情况</a:t>
            </a:r>
          </a:p>
        </p:txBody>
      </p:sp>
      <p:sp>
        <p:nvSpPr>
          <p:cNvPr id="59" name="横卷形 86">
            <a:extLst>
              <a:ext uri="{FF2B5EF4-FFF2-40B4-BE49-F238E27FC236}">
                <a16:creationId xmlns:a16="http://schemas.microsoft.com/office/drawing/2014/main" id="{07E81FCD-8864-4869-8ABC-92697D30470F}"/>
              </a:ext>
            </a:extLst>
          </p:cNvPr>
          <p:cNvSpPr/>
          <p:nvPr/>
        </p:nvSpPr>
        <p:spPr>
          <a:xfrm>
            <a:off x="125040" y="787214"/>
            <a:ext cx="682680" cy="312798"/>
          </a:xfrm>
          <a:prstGeom prst="horizontalScroll">
            <a:avLst>
              <a:gd name="adj" fmla="val 19161"/>
            </a:avLst>
          </a:prstGeom>
          <a:solidFill>
            <a:srgbClr val="FF0000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极客掘金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76F59128-F61B-4CF1-8D33-B61278F8EA69}"/>
              </a:ext>
            </a:extLst>
          </p:cNvPr>
          <p:cNvSpPr txBox="1"/>
          <p:nvPr/>
        </p:nvSpPr>
        <p:spPr>
          <a:xfrm>
            <a:off x="7448803" y="884645"/>
            <a:ext cx="4439838" cy="1957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b="1" sz="1500">
                <a:solidFill>
                  <a:srgbClr val="C00000"/>
                </a:solidFill>
                <a:latin typeface="微软雅黑"/>
              </a:rPr>
              <a:t>西欧区关键结论</a:t>
            </a:r>
            <a:endParaRPr kumimoji="0" lang="en-US" altLang="zh-CN" sz="105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1. 西欧区下各代表处按已覆盖比例排序后，最高为 Germany Group（11.11%），最低为 Italy Group（0.00%）。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2. 当前需重点跟进的代表处：France Group（4.76%）、Benelux Group（0.00%）、EU Solution Department（0.00%）。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3. 认证推进最快的代表处是 Germany Group（0.00%）。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20C9D4A-D8E1-42B1-BC2E-A1B8D74E5C61}"/>
              </a:ext>
            </a:extLst>
          </p:cNvPr>
          <p:cNvSpPr txBox="1"/>
          <p:nvPr/>
        </p:nvSpPr>
        <p:spPr>
          <a:xfrm>
            <a:off x="2834496" y="12378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303358" y="1271212"/>
          <a:ext cx="6595282" cy="39510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213"/>
                <a:gridCol w="1099213"/>
                <a:gridCol w="1099213"/>
                <a:gridCol w="1099213"/>
                <a:gridCol w="1099213"/>
                <a:gridCol w="1099217"/>
              </a:tblGrid>
              <a:tr h="564433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代表处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NP客户数量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已覆盖个数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已覆盖比例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DHIA认证通过个数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DHIA认证通过比列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443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Germany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11.11%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443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Spain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7.14%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443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France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4.76%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443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Benelux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443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EU Solution Department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443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Italy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0" name="文本框 59">
            <a:extLst>
              <a:ext uri="{FF2B5EF4-FFF2-40B4-BE49-F238E27FC236}">
                <a16:creationId xmlns:a16="http://schemas.microsoft.com/office/drawing/2014/main" id="{7EBE9959-3C11-4BAA-B82C-7DED88547A86}"/>
              </a:ext>
            </a:extLst>
          </p:cNvPr>
          <p:cNvSpPr txBox="1"/>
          <p:nvPr/>
        </p:nvSpPr>
        <p:spPr>
          <a:xfrm>
            <a:off x="169380" y="793663"/>
            <a:ext cx="11838616" cy="4793125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0034133" cy="369332"/>
          </a:xfrm>
        </p:spPr>
        <p:txBody>
          <a:bodyPr/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方案-极客行动 | 英国区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579530" y="918070"/>
            <a:ext cx="3773234" cy="278016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000000"/>
                </a:solidFill>
                <a:latin typeface="微软雅黑"/>
              </a:rPr>
              <a:t>英国区代表处客户培训覆盖情况</a:t>
            </a:r>
          </a:p>
        </p:txBody>
      </p:sp>
      <p:sp>
        <p:nvSpPr>
          <p:cNvPr id="59" name="横卷形 86">
            <a:extLst>
              <a:ext uri="{FF2B5EF4-FFF2-40B4-BE49-F238E27FC236}">
                <a16:creationId xmlns:a16="http://schemas.microsoft.com/office/drawing/2014/main" id="{07E81FCD-8864-4869-8ABC-92697D30470F}"/>
              </a:ext>
            </a:extLst>
          </p:cNvPr>
          <p:cNvSpPr/>
          <p:nvPr/>
        </p:nvSpPr>
        <p:spPr>
          <a:xfrm>
            <a:off x="125040" y="787214"/>
            <a:ext cx="682680" cy="312798"/>
          </a:xfrm>
          <a:prstGeom prst="horizontalScroll">
            <a:avLst>
              <a:gd name="adj" fmla="val 19161"/>
            </a:avLst>
          </a:prstGeom>
          <a:solidFill>
            <a:srgbClr val="FF0000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极客掘金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76F59128-F61B-4CF1-8D33-B61278F8EA69}"/>
              </a:ext>
            </a:extLst>
          </p:cNvPr>
          <p:cNvSpPr txBox="1"/>
          <p:nvPr/>
        </p:nvSpPr>
        <p:spPr>
          <a:xfrm>
            <a:off x="7448803" y="884645"/>
            <a:ext cx="4439838" cy="1957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b="1" sz="1500">
                <a:solidFill>
                  <a:srgbClr val="C00000"/>
                </a:solidFill>
                <a:latin typeface="微软雅黑"/>
              </a:rPr>
              <a:t>英国区关键结论</a:t>
            </a:r>
            <a:endParaRPr kumimoji="0" lang="en-US" altLang="zh-CN" sz="105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1. 英国区下当前仅有 1 个代表处纳入统计，为 UK Project Business Department，已覆盖比例为 4.00%。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2. 当前需重点跟进的代表处：UK Project Business Department（4.00%）。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3. 认证推进最快的代表处是 UK Project Business Department（0.00%）。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20C9D4A-D8E1-42B1-BC2E-A1B8D74E5C61}"/>
              </a:ext>
            </a:extLst>
          </p:cNvPr>
          <p:cNvSpPr txBox="1"/>
          <p:nvPr/>
        </p:nvSpPr>
        <p:spPr>
          <a:xfrm>
            <a:off x="2834496" y="12378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303358" y="1271212"/>
          <a:ext cx="6595282" cy="39510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213"/>
                <a:gridCol w="1099213"/>
                <a:gridCol w="1099213"/>
                <a:gridCol w="1099213"/>
                <a:gridCol w="1099213"/>
                <a:gridCol w="1099217"/>
              </a:tblGrid>
              <a:tr h="1975515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代表处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NP客户数量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已覆盖个数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已覆盖比例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DHIA认证通过个数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DHIA认证通过比列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75516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UK Project Business Department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4.00%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0" name="文本框 59">
            <a:extLst>
              <a:ext uri="{FF2B5EF4-FFF2-40B4-BE49-F238E27FC236}">
                <a16:creationId xmlns:a16="http://schemas.microsoft.com/office/drawing/2014/main" id="{7EBE9959-3C11-4BAA-B82C-7DED88547A86}"/>
              </a:ext>
            </a:extLst>
          </p:cNvPr>
          <p:cNvSpPr txBox="1"/>
          <p:nvPr/>
        </p:nvSpPr>
        <p:spPr>
          <a:xfrm>
            <a:off x="169380" y="793663"/>
            <a:ext cx="11838616" cy="4793125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0034133" cy="369332"/>
          </a:xfrm>
        </p:spPr>
        <p:txBody>
          <a:bodyPr/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方案-极客行动 | 大洋洲区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579530" y="918070"/>
            <a:ext cx="3773234" cy="278016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000000"/>
                </a:solidFill>
                <a:latin typeface="微软雅黑"/>
              </a:rPr>
              <a:t>大洋洲区代表处客户培训覆盖情况</a:t>
            </a:r>
          </a:p>
        </p:txBody>
      </p:sp>
      <p:sp>
        <p:nvSpPr>
          <p:cNvPr id="59" name="横卷形 86">
            <a:extLst>
              <a:ext uri="{FF2B5EF4-FFF2-40B4-BE49-F238E27FC236}">
                <a16:creationId xmlns:a16="http://schemas.microsoft.com/office/drawing/2014/main" id="{07E81FCD-8864-4869-8ABC-92697D30470F}"/>
              </a:ext>
            </a:extLst>
          </p:cNvPr>
          <p:cNvSpPr/>
          <p:nvPr/>
        </p:nvSpPr>
        <p:spPr>
          <a:xfrm>
            <a:off x="125040" y="787214"/>
            <a:ext cx="682680" cy="312798"/>
          </a:xfrm>
          <a:prstGeom prst="horizontalScroll">
            <a:avLst>
              <a:gd name="adj" fmla="val 19161"/>
            </a:avLst>
          </a:prstGeom>
          <a:solidFill>
            <a:srgbClr val="FF0000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极客掘金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76F59128-F61B-4CF1-8D33-B61278F8EA69}"/>
              </a:ext>
            </a:extLst>
          </p:cNvPr>
          <p:cNvSpPr txBox="1"/>
          <p:nvPr/>
        </p:nvSpPr>
        <p:spPr>
          <a:xfrm>
            <a:off x="7448803" y="884645"/>
            <a:ext cx="4439838" cy="1957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b="1" sz="1500">
                <a:solidFill>
                  <a:srgbClr val="C00000"/>
                </a:solidFill>
                <a:latin typeface="微软雅黑"/>
              </a:rPr>
              <a:t>大洋洲区关键结论</a:t>
            </a:r>
            <a:endParaRPr kumimoji="0" lang="en-US" altLang="zh-CN" sz="105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1. 大洋洲区下各代表处按已覆盖比例排序后，最高为 OA Sales Management Department（25.00%），最低为 OA Channel Management Department（0.00%）。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2. 进展较好的代表处：OA Sales Management Department（25.00%）；需重点跟进的代表处：Australia Group（0.00%）、New Zealand Group（0.00%）、OA Channel Management Department（0.00%）。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3. 认证推进最快的代表处是 New Zealand Group（10.00%）。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20C9D4A-D8E1-42B1-BC2E-A1B8D74E5C61}"/>
              </a:ext>
            </a:extLst>
          </p:cNvPr>
          <p:cNvSpPr txBox="1"/>
          <p:nvPr/>
        </p:nvSpPr>
        <p:spPr>
          <a:xfrm>
            <a:off x="2834496" y="12378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303358" y="1271212"/>
          <a:ext cx="6595282" cy="39510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213"/>
                <a:gridCol w="1099213"/>
                <a:gridCol w="1099213"/>
                <a:gridCol w="1099213"/>
                <a:gridCol w="1099213"/>
                <a:gridCol w="1099217"/>
              </a:tblGrid>
              <a:tr h="790206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代表处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NP客户数量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已覆盖个数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已覆盖比例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DHIA认证通过个数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DHIA认证通过比列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0206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OA Sales Management Department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25.00%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0206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Australia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0206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New Zealand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0207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OA Channel Management Department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0" name="文本框 59">
            <a:extLst>
              <a:ext uri="{FF2B5EF4-FFF2-40B4-BE49-F238E27FC236}">
                <a16:creationId xmlns:a16="http://schemas.microsoft.com/office/drawing/2014/main" id="{7EBE9959-3C11-4BAA-B82C-7DED88547A86}"/>
              </a:ext>
            </a:extLst>
          </p:cNvPr>
          <p:cNvSpPr txBox="1"/>
          <p:nvPr/>
        </p:nvSpPr>
        <p:spPr>
          <a:xfrm>
            <a:off x="169380" y="793663"/>
            <a:ext cx="11838616" cy="4793125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0034133" cy="369332"/>
          </a:xfrm>
        </p:spPr>
        <p:txBody>
          <a:bodyPr/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方案-极客行动 | 国际合作部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579530" y="918070"/>
            <a:ext cx="3773234" cy="278016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000000"/>
                </a:solidFill>
                <a:latin typeface="微软雅黑"/>
              </a:rPr>
              <a:t>国际合作部代表处客户培训覆盖情况</a:t>
            </a:r>
          </a:p>
        </p:txBody>
      </p:sp>
      <p:sp>
        <p:nvSpPr>
          <p:cNvPr id="59" name="横卷形 86">
            <a:extLst>
              <a:ext uri="{FF2B5EF4-FFF2-40B4-BE49-F238E27FC236}">
                <a16:creationId xmlns:a16="http://schemas.microsoft.com/office/drawing/2014/main" id="{07E81FCD-8864-4869-8ABC-92697D30470F}"/>
              </a:ext>
            </a:extLst>
          </p:cNvPr>
          <p:cNvSpPr/>
          <p:nvPr/>
        </p:nvSpPr>
        <p:spPr>
          <a:xfrm>
            <a:off x="125040" y="787214"/>
            <a:ext cx="682680" cy="312798"/>
          </a:xfrm>
          <a:prstGeom prst="horizontalScroll">
            <a:avLst>
              <a:gd name="adj" fmla="val 19161"/>
            </a:avLst>
          </a:prstGeom>
          <a:solidFill>
            <a:srgbClr val="FF0000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极客掘金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76F59128-F61B-4CF1-8D33-B61278F8EA69}"/>
              </a:ext>
            </a:extLst>
          </p:cNvPr>
          <p:cNvSpPr txBox="1"/>
          <p:nvPr/>
        </p:nvSpPr>
        <p:spPr>
          <a:xfrm>
            <a:off x="7448803" y="884645"/>
            <a:ext cx="4439838" cy="1957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b="1" sz="1500">
                <a:solidFill>
                  <a:srgbClr val="C00000"/>
                </a:solidFill>
                <a:latin typeface="微软雅黑"/>
              </a:rPr>
              <a:t>国际合作部关键结论</a:t>
            </a:r>
            <a:endParaRPr kumimoji="0" lang="en-US" altLang="zh-CN" sz="105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1. 国际合作部下当前仅有 1 个代表处纳入统计，为 IC International Cooperation，已覆盖比例为 0.00%。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2. 当前需重点跟进的代表处：IC International Cooperation（0.00%）。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3. 认证推进最快的代表处是 IC International Cooperation（0.00%）。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20C9D4A-D8E1-42B1-BC2E-A1B8D74E5C61}"/>
              </a:ext>
            </a:extLst>
          </p:cNvPr>
          <p:cNvSpPr txBox="1"/>
          <p:nvPr/>
        </p:nvSpPr>
        <p:spPr>
          <a:xfrm>
            <a:off x="2834496" y="12378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303358" y="1271212"/>
          <a:ext cx="6595282" cy="39510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213"/>
                <a:gridCol w="1099213"/>
                <a:gridCol w="1099213"/>
                <a:gridCol w="1099213"/>
                <a:gridCol w="1099213"/>
                <a:gridCol w="1099217"/>
              </a:tblGrid>
              <a:tr h="1975515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代表处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NP客户数量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已覆盖个数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已覆盖比例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DHIA认证通过个数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DHIA认证通过比列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75516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IC International Cooperation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0" name="文本框 59">
            <a:extLst>
              <a:ext uri="{FF2B5EF4-FFF2-40B4-BE49-F238E27FC236}">
                <a16:creationId xmlns:a16="http://schemas.microsoft.com/office/drawing/2014/main" id="{7EBE9959-3C11-4BAA-B82C-7DED88547A86}"/>
              </a:ext>
            </a:extLst>
          </p:cNvPr>
          <p:cNvSpPr txBox="1"/>
          <p:nvPr/>
        </p:nvSpPr>
        <p:spPr>
          <a:xfrm>
            <a:off x="169380" y="793663"/>
            <a:ext cx="11838616" cy="4793125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0034133" cy="369332"/>
          </a:xfrm>
        </p:spPr>
        <p:txBody>
          <a:bodyPr/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方案-极客行动 | 墨西哥区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579530" y="918070"/>
            <a:ext cx="3773234" cy="278016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000000"/>
                </a:solidFill>
                <a:latin typeface="微软雅黑"/>
              </a:rPr>
              <a:t>墨西哥区代表处客户培训覆盖情况</a:t>
            </a:r>
          </a:p>
        </p:txBody>
      </p:sp>
      <p:sp>
        <p:nvSpPr>
          <p:cNvPr id="59" name="横卷形 86">
            <a:extLst>
              <a:ext uri="{FF2B5EF4-FFF2-40B4-BE49-F238E27FC236}">
                <a16:creationId xmlns:a16="http://schemas.microsoft.com/office/drawing/2014/main" id="{07E81FCD-8864-4869-8ABC-92697D30470F}"/>
              </a:ext>
            </a:extLst>
          </p:cNvPr>
          <p:cNvSpPr/>
          <p:nvPr/>
        </p:nvSpPr>
        <p:spPr>
          <a:xfrm>
            <a:off x="125040" y="787214"/>
            <a:ext cx="682680" cy="312798"/>
          </a:xfrm>
          <a:prstGeom prst="horizontalScroll">
            <a:avLst>
              <a:gd name="adj" fmla="val 19161"/>
            </a:avLst>
          </a:prstGeom>
          <a:solidFill>
            <a:srgbClr val="FF0000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极客掘金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76F59128-F61B-4CF1-8D33-B61278F8EA69}"/>
              </a:ext>
            </a:extLst>
          </p:cNvPr>
          <p:cNvSpPr txBox="1"/>
          <p:nvPr/>
        </p:nvSpPr>
        <p:spPr>
          <a:xfrm>
            <a:off x="7448803" y="884645"/>
            <a:ext cx="4439838" cy="1957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b="1" sz="1500">
                <a:solidFill>
                  <a:srgbClr val="C00000"/>
                </a:solidFill>
                <a:latin typeface="微软雅黑"/>
              </a:rPr>
              <a:t>墨西哥区关键结论</a:t>
            </a:r>
            <a:endParaRPr kumimoji="0" lang="en-US" altLang="zh-CN" sz="105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1. 墨西哥区下当前仅有 1 个代表处纳入统计，为 Mexico Group，已覆盖比例为 0.00%。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2. 当前需重点跟进的代表处：Mexico Group（0.00%）。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3. 认证推进最快的代表处是 Mexico Group（62.50%）。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20C9D4A-D8E1-42B1-BC2E-A1B8D74E5C61}"/>
              </a:ext>
            </a:extLst>
          </p:cNvPr>
          <p:cNvSpPr txBox="1"/>
          <p:nvPr/>
        </p:nvSpPr>
        <p:spPr>
          <a:xfrm>
            <a:off x="2834496" y="12378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303358" y="1271212"/>
          <a:ext cx="6595282" cy="39510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213"/>
                <a:gridCol w="1099213"/>
                <a:gridCol w="1099213"/>
                <a:gridCol w="1099213"/>
                <a:gridCol w="1099213"/>
                <a:gridCol w="1099217"/>
              </a:tblGrid>
              <a:tr h="1975515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代表处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NP客户数量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已覆盖个数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已覆盖比例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DHIA认证通过个数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DHIA认证通过比列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75516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Mexico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62.50%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0" name="文本框 59">
            <a:extLst>
              <a:ext uri="{FF2B5EF4-FFF2-40B4-BE49-F238E27FC236}">
                <a16:creationId xmlns:a16="http://schemas.microsoft.com/office/drawing/2014/main" id="{7EBE9959-3C11-4BAA-B82C-7DED88547A86}"/>
              </a:ext>
            </a:extLst>
          </p:cNvPr>
          <p:cNvSpPr txBox="1"/>
          <p:nvPr/>
        </p:nvSpPr>
        <p:spPr>
          <a:xfrm>
            <a:off x="169380" y="793663"/>
            <a:ext cx="11838616" cy="4793125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0034133" cy="369332"/>
          </a:xfrm>
        </p:spPr>
        <p:txBody>
          <a:bodyPr/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方案-极客行动 | Software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579530" y="918070"/>
            <a:ext cx="3773234" cy="278016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000000"/>
                </a:solidFill>
                <a:latin typeface="微软雅黑"/>
              </a:rPr>
              <a:t>DHIA - Software 认证情况</a:t>
            </a:r>
          </a:p>
        </p:txBody>
      </p:sp>
      <p:sp>
        <p:nvSpPr>
          <p:cNvPr id="59" name="横卷形 86">
            <a:extLst>
              <a:ext uri="{FF2B5EF4-FFF2-40B4-BE49-F238E27FC236}">
                <a16:creationId xmlns:a16="http://schemas.microsoft.com/office/drawing/2014/main" id="{07E81FCD-8864-4869-8ABC-92697D30470F}"/>
              </a:ext>
            </a:extLst>
          </p:cNvPr>
          <p:cNvSpPr/>
          <p:nvPr/>
        </p:nvSpPr>
        <p:spPr>
          <a:xfrm>
            <a:off x="125040" y="787214"/>
            <a:ext cx="682680" cy="312798"/>
          </a:xfrm>
          <a:prstGeom prst="horizontalScroll">
            <a:avLst>
              <a:gd name="adj" fmla="val 19161"/>
            </a:avLst>
          </a:prstGeom>
          <a:solidFill>
            <a:srgbClr val="FF0000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极客掘金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76F59128-F61B-4CF1-8D33-B61278F8EA69}"/>
              </a:ext>
            </a:extLst>
          </p:cNvPr>
          <p:cNvSpPr txBox="1"/>
          <p:nvPr/>
        </p:nvSpPr>
        <p:spPr>
          <a:xfrm>
            <a:off x="7448803" y="884645"/>
            <a:ext cx="4439838" cy="1957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b="1" sz="1500">
                <a:solidFill>
                  <a:srgbClr val="C00000"/>
                </a:solidFill>
                <a:latin typeface="微软雅黑"/>
              </a:rPr>
              <a:t>整体关键结论</a:t>
            </a:r>
            <a:endParaRPr kumimoji="0" lang="en-US" altLang="zh-CN" sz="105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1. 各大区按已覆盖比例排序后，最高为 拉美区（51.85%），最低为 墨西哥区（0.00%）。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2. 进展较好的大区：拉美区（51.85%）、巴西区（36.84%）、南洋区（35.06%）；需重点跟进的大区：英国区（4.00%）、大洋洲区（2.56%）、国际合作部（0.00%）。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3. 认证推进最快的大区是 拉美区（66.67%）。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20C9D4A-D8E1-42B1-BC2E-A1B8D74E5C61}"/>
              </a:ext>
            </a:extLst>
          </p:cNvPr>
          <p:cNvSpPr txBox="1"/>
          <p:nvPr/>
        </p:nvSpPr>
        <p:spPr>
          <a:xfrm>
            <a:off x="2834496" y="12378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303358" y="1271212"/>
          <a:ext cx="6595282" cy="39510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2183"/>
                <a:gridCol w="942183"/>
                <a:gridCol w="942183"/>
                <a:gridCol w="942183"/>
                <a:gridCol w="942183"/>
                <a:gridCol w="942183"/>
                <a:gridCol w="942184"/>
              </a:tblGrid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微软雅黑"/>
                        </a:rPr>
                        <a:t>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微软雅黑"/>
                        </a:rPr>
                        <a:t>NP客户数量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微软雅黑"/>
                        </a:rPr>
                        <a:t>已覆盖比例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微软雅黑"/>
                        </a:rPr>
                        <a:t>Software认证通过个数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微软雅黑"/>
                        </a:rPr>
                        <a:t>Software认证通过比例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微软雅黑"/>
                        </a:rPr>
                        <a:t>Software认证通过比例排名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微软雅黑"/>
                        </a:rPr>
                        <a:t>DHIA认证通过比例</a:t>
                      </a:r>
                    </a:p>
                  </a:txBody>
                  <a:tcPr/>
                </a:tc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拉美区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51.85%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66.67%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74.07%</a:t>
                      </a:r>
                    </a:p>
                  </a:txBody>
                  <a:tcPr/>
                </a:tc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中东北非区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23.33%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2.67%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8.67%</a:t>
                      </a:r>
                    </a:p>
                  </a:txBody>
                  <a:tcPr/>
                </a:tc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东北欧区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6.56%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1.64%</a:t>
                      </a:r>
                    </a:p>
                  </a:txBody>
                  <a:tcPr/>
                </a:tc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东南亚区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11.34%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3.09%</a:t>
                      </a:r>
                    </a:p>
                  </a:txBody>
                  <a:tcPr/>
                </a:tc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南洋区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35.06%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12.99%</a:t>
                      </a:r>
                    </a:p>
                  </a:txBody>
                  <a:tcPr/>
                </a:tc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国际合作部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0.00%</a:t>
                      </a:r>
                    </a:p>
                  </a:txBody>
                  <a:tcPr/>
                </a:tc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墨西哥区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62.50%</a:t>
                      </a:r>
                    </a:p>
                  </a:txBody>
                  <a:tcPr/>
                </a:tc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大洋洲区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2.56%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2.56%</a:t>
                      </a:r>
                    </a:p>
                  </a:txBody>
                  <a:tcPr/>
                </a:tc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巴西区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36.84%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52.63%</a:t>
                      </a:r>
                    </a:p>
                  </a:txBody>
                  <a:tcPr/>
                </a:tc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欧亚区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8.70%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0.00%</a:t>
                      </a:r>
                    </a:p>
                  </a:txBody>
                  <a:tcPr/>
                </a:tc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英国区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4.00%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0.00%</a:t>
                      </a:r>
                    </a:p>
                  </a:txBody>
                  <a:tcPr/>
                </a:tc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西欧区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5.88%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0.00%</a:t>
                      </a:r>
                    </a:p>
                  </a:txBody>
                  <a:tcPr/>
                </a:tc>
              </a:tr>
              <a:tr h="28222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非洲区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29.17%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微软雅黑"/>
                        </a:rPr>
                        <a:t>12.50%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2" name="TextBox 61"/>
          <p:cNvSpPr txBox="1"/>
          <p:nvPr/>
        </p:nvSpPr>
        <p:spPr>
          <a:xfrm>
            <a:off x="548640" y="56692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0000"/>
                </a:solidFill>
                <a:latin typeface="微软雅黑"/>
              </a:rPr>
              <a:t>Top未认证客户（已覆盖但未通过Software认证）：MEKDAM TECHNOLOGY、3S STANDARD Sharing Software、VIRTUAL MOBILE DATA [VMD]、SARL CDMI、AVICOM LLC、FPT Information System Corporation、ISOLECTRA (M) SDN. BHD.、Express Display、AVANTIA TECNOLOGIA E ENGENHARIA S/A - SP、Securitas Alarm İzleme ve Güvenlik Sistemleri A.Ş.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3637727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18286</TotalTime>
  <Words>245</Words>
  <Application>Microsoft Office PowerPoint</Application>
  <PresentationFormat>宽屏</PresentationFormat>
  <Paragraphs>79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宋体</vt:lpstr>
      <vt:lpstr>微软雅黑</vt:lpstr>
      <vt:lpstr>Arial</vt:lpstr>
      <vt:lpstr>Calibri</vt:lpstr>
      <vt:lpstr>Office 主题​​</vt:lpstr>
      <vt:lpstr>方案-极客行动 |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重点工作月度总结与计划</dc:title>
  <dc:creator>32168</dc:creator>
  <cp:lastModifiedBy>胡明舒</cp:lastModifiedBy>
  <cp:revision>871</cp:revision>
  <dcterms:created xsi:type="dcterms:W3CDTF">2025-03-24T01:45:08Z</dcterms:created>
  <dcterms:modified xsi:type="dcterms:W3CDTF">2026-05-18T09:20:50Z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FD3E3B98A84544C5B2408BE8D9746E23_11</vt:lpwstr>
  </property>
  <property fmtid="{D5CDD505-2E9C-101B-9397-08002B2CF9AE}" pid="4" name="GSEDS_TWMT">
    <vt:lpwstr>d46a6755_b77b54e0_e6176dfde2a49339caa56744052e0f1e02161a1a64ebe24ca9824ebeafd976ba_feb90e2d526a23a65c0974e1eba1da1cf311209f17348271c5aa47a223b93793</vt:lpwstr>
  </property>
  <property fmtid="{D5CDD505-2E9C-101B-9397-08002B2CF9AE}" pid="5" name="GSEDS_HWMT_d46a6755">
    <vt:lpwstr>f2457335_mFV3xD84Jyk3NspOlnv/rk8IQCI=_8QYrr15fIzUrXb1P4gKfrrlCuFixJbQLDZi2AqV48m7HJqlKUdbg4YJwzWzuWB7wwef4t7ZrnKzMShlGdjpDRVwoqKE=_d68da1d1</vt:lpwstr>
  </property>
</Properties>
</file>