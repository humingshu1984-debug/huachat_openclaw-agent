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2071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87192" autoAdjust="0"/>
  </p:normalViewPr>
  <p:slideViewPr>
    <p:cSldViewPr snapToGrid="0" showGuides="1">
      <p:cViewPr varScale="1">
        <p:scale>
          <a:sx n="63" d="100"/>
          <a:sy n="63" d="100"/>
        </p:scale>
        <p:origin x="696" y="60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7467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e6176dfd_1_7">
            <a:extLst>
              <a:ext uri="{FF2B5EF4-FFF2-40B4-BE49-F238E27FC236}">
                <a16:creationId xmlns:a16="http://schemas.microsoft.com/office/drawing/2014/main" id="{CC9ED313-2AAE-455D-B72C-49C69312DD5D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2026-05-18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极客“掘金”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客户方案技术营销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极客“掘金”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客户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技术营销培训覆盖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tabLst/>
              <a:defRPr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本月极客掘金覆盖客户数，从上月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80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个增加到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121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个，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DHIA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发证个数从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57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个增加到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149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个，  各大区情况如下：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marR="0" lvl="0" indent="-171450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中东北非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南洋的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客户覆盖</a:t>
            </a:r>
            <a:r>
              <a:rPr lang="zh-CN" altLang="en-US" sz="12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情况，</a:t>
            </a:r>
            <a:r>
              <a:rPr kumimoji="0" lang="zh-CN" altLang="en-US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实际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跑动均</a:t>
            </a:r>
            <a:r>
              <a:rPr kumimoji="0" lang="zh-CN" altLang="en-US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较好；</a:t>
            </a:r>
            <a:endParaRPr kumimoji="0" lang="en-US" altLang="zh-CN" sz="12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marR="0" lvl="0" indent="-171450" defTabSz="914400" rtl="0" eaLnBrk="1" fontAlgn="auto" latinLnBrk="0" hangingPunct="1">
              <a:lnSpc>
                <a:spcPct val="12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墨西哥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、非洲和英国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已经有一定跑动执行，单仍需关注客户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的覆盖进度；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拉美，欧亚，大洋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的培训执行需要加快节奏；</a:t>
            </a:r>
            <a:endParaRPr lang="en-US" altLang="zh-CN" sz="12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目前 </a:t>
            </a:r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巴西、南洋、非洲的</a:t>
            </a:r>
            <a:r>
              <a:rPr lang="en-US" altLang="zh-CN" sz="12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DHIA</a:t>
            </a:r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客户认证推进较快；</a:t>
            </a:r>
            <a:endParaRPr lang="en-US" altLang="zh-CN" sz="12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6E6DFC6-C2D0-47CC-AAA7-83136D711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679639"/>
              </p:ext>
            </p:extLst>
          </p:nvPr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/>
              <a:tblGrid>
                <a:gridCol w="804766">
                  <a:extLst>
                    <a:ext uri="{9D8B030D-6E8A-4147-A177-3AD203B41FA5}">
                      <a16:colId xmlns:a16="http://schemas.microsoft.com/office/drawing/2014/main" val="807362309"/>
                    </a:ext>
                  </a:extLst>
                </a:gridCol>
                <a:gridCol w="887911">
                  <a:extLst>
                    <a:ext uri="{9D8B030D-6E8A-4147-A177-3AD203B41FA5}">
                      <a16:colId xmlns:a16="http://schemas.microsoft.com/office/drawing/2014/main" val="3937442843"/>
                    </a:ext>
                  </a:extLst>
                </a:gridCol>
                <a:gridCol w="516638">
                  <a:extLst>
                    <a:ext uri="{9D8B030D-6E8A-4147-A177-3AD203B41FA5}">
                      <a16:colId xmlns:a16="http://schemas.microsoft.com/office/drawing/2014/main" val="3441459049"/>
                    </a:ext>
                  </a:extLst>
                </a:gridCol>
                <a:gridCol w="1732457">
                  <a:extLst>
                    <a:ext uri="{9D8B030D-6E8A-4147-A177-3AD203B41FA5}">
                      <a16:colId xmlns:a16="http://schemas.microsoft.com/office/drawing/2014/main" val="2493806182"/>
                    </a:ext>
                  </a:extLst>
                </a:gridCol>
                <a:gridCol w="1206141">
                  <a:extLst>
                    <a:ext uri="{9D8B030D-6E8A-4147-A177-3AD203B41FA5}">
                      <a16:colId xmlns:a16="http://schemas.microsoft.com/office/drawing/2014/main" val="1257038015"/>
                    </a:ext>
                  </a:extLst>
                </a:gridCol>
                <a:gridCol w="1447369">
                  <a:extLst>
                    <a:ext uri="{9D8B030D-6E8A-4147-A177-3AD203B41FA5}">
                      <a16:colId xmlns:a16="http://schemas.microsoft.com/office/drawing/2014/main" val="3062111711"/>
                    </a:ext>
                  </a:extLst>
                </a:gridCol>
              </a:tblGrid>
              <a:tr h="41501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大区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NP</a:t>
                      </a:r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客户数量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已覆盖</a:t>
                      </a:r>
                      <a:b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个数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已覆盖</a:t>
                      </a:r>
                      <a:b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比例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DHIA</a:t>
                      </a:r>
                    </a:p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认证通过个数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DHIA</a:t>
                      </a:r>
                    </a:p>
                    <a:p>
                      <a:pPr algn="ctr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认证通过比列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075414"/>
                  </a:ext>
                </a:extLst>
              </a:tr>
              <a:tr h="294668">
                <a:tc>
                  <a:txBody>
                    <a:bodyPr/>
                    <a:lstStyle/>
                    <a:p>
                      <a:pPr algn="ctr" fontAlgn="t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126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23.23%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849731"/>
                  </a:ext>
                </a:extLst>
              </a:tr>
              <a:tr h="294668">
                <a:tc>
                  <a:txBody>
                    <a:bodyPr/>
                    <a:lstStyle/>
                    <a:p>
                      <a:pPr algn="ctr" fontAlgn="t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6.25%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08168"/>
                  </a:ext>
                </a:extLst>
              </a:tr>
              <a:tr h="294668">
                <a:tc>
                  <a:txBody>
                    <a:bodyPr/>
                    <a:lstStyle/>
                    <a:p>
                      <a:pPr algn="ctr" fontAlgn="t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  <a:endParaRPr lang="en-US" altLang="zh-CN" sz="9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0.00%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4437752"/>
                  </a:ext>
                </a:extLst>
              </a:tr>
              <a:tr h="294668">
                <a:tc>
                  <a:txBody>
                    <a:bodyPr/>
                    <a:lstStyle/>
                    <a:p>
                      <a:pPr algn="ctr" fontAlgn="t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20.00%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139958"/>
                  </a:ext>
                </a:extLst>
              </a:tr>
              <a:tr h="294668">
                <a:tc>
                  <a:txBody>
                    <a:bodyPr/>
                    <a:lstStyle/>
                    <a:p>
                      <a:pPr algn="ctr" fontAlgn="t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14.00%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127028"/>
                  </a:ext>
                </a:extLst>
              </a:tr>
              <a:tr h="294668">
                <a:tc>
                  <a:txBody>
                    <a:bodyPr/>
                    <a:lstStyle/>
                    <a:p>
                      <a:pPr algn="ctr" fontAlgn="t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26.09%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7201268"/>
                  </a:ext>
                </a:extLst>
              </a:tr>
              <a:tr h="294668">
                <a:tc>
                  <a:txBody>
                    <a:bodyPr/>
                    <a:lstStyle/>
                    <a:p>
                      <a:pPr algn="ctr" fontAlgn="t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7.04%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905885"/>
                  </a:ext>
                </a:extLst>
              </a:tr>
              <a:tr h="294668">
                <a:tc>
                  <a:txBody>
                    <a:bodyPr/>
                    <a:lstStyle/>
                    <a:p>
                      <a:pPr algn="ctr" fontAlgn="t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4.23%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811482"/>
                  </a:ext>
                </a:extLst>
              </a:tr>
              <a:tr h="294668">
                <a:tc>
                  <a:txBody>
                    <a:bodyPr/>
                    <a:lstStyle/>
                    <a:p>
                      <a:pPr algn="ctr" fontAlgn="t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10.17%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21441"/>
                  </a:ext>
                </a:extLst>
              </a:tr>
              <a:tr h="294668">
                <a:tc>
                  <a:txBody>
                    <a:bodyPr/>
                    <a:lstStyle/>
                    <a:p>
                      <a:pPr algn="ctr" fontAlgn="t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10.00%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324050"/>
                  </a:ext>
                </a:extLst>
              </a:tr>
              <a:tr h="294668">
                <a:tc>
                  <a:txBody>
                    <a:bodyPr/>
                    <a:lstStyle/>
                    <a:p>
                      <a:pPr algn="ctr" fontAlgn="t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9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0.00%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288829"/>
                  </a:ext>
                </a:extLst>
              </a:tr>
              <a:tr h="294668">
                <a:tc>
                  <a:txBody>
                    <a:bodyPr/>
                    <a:lstStyle/>
                    <a:p>
                      <a:pPr algn="ctr" fontAlgn="t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9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0.00%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 </a:t>
                      </a:r>
                    </a:p>
                  </a:txBody>
                  <a:tcPr marL="6193" marR="6193" marT="619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132663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10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月客户极客掘金圈定覆盖新增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41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个，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DHIA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认证发放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92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个；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高质量本地化方案提报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38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份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253150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18286</TotalTime>
  <Words>245</Words>
  <Application>Microsoft Office PowerPoint</Application>
  <PresentationFormat>宽屏</PresentationFormat>
  <Paragraphs>79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871</cp:revision>
  <dcterms:created xsi:type="dcterms:W3CDTF">2025-03-24T01:45:08Z</dcterms:created>
  <dcterms:modified xsi:type="dcterms:W3CDTF">2026-05-18T09:20:50Z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d46a6755_b77b54e0_e6176dfde2a49339caa56744052e0f1e02161a1a64ebe24ca9824ebeafd976ba_feb90e2d526a23a65c0974e1eba1da1cf311209f17348271c5aa47a223b93793</vt:lpwstr>
  </property>
  <property fmtid="{D5CDD505-2E9C-101B-9397-08002B2CF9AE}" pid="5" name="GSEDS_HWMT_d46a6755">
    <vt:lpwstr>f2457335_mFV3xD84Jyk3NspOlnv/rk8IQCI=_8QYrr15fIzUrXb1P4gKfrrlCuFixJbQLDZi2AqV48m7HJqlKUdbg4YJwzWzuWB7wwef4t7ZrnKzMShlGdjpDRVwoqKE=_d68da1d1</vt:lpwstr>
  </property>
</Properties>
</file>