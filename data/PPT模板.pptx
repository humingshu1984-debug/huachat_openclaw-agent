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tags" Target="tags/tag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能力地图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内训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赋能进展：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截至 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19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号，海外整体课程学习任务完成率为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42.24%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，</a:t>
            </a:r>
            <a:endParaRPr kumimoji="0" lang="en-US" altLang="zh-CN" sz="10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marR="0" lvl="0" indent="-171450" defTabSz="914400" rtl="0" eaLnBrk="1" fontAlgn="auto" latinLnBrk="0" hangingPunct="1"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目前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非洲区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课程任务的完成率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100%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 sz="10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中东北非区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课程任务的完成率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74.33%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，赋能覆盖进展较好，大区对能力地图的学习组织和管理动作有效配套落地。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巴西、拉美、东南亚、墨西哥、西欧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的课程任务的完成率低于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30%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，需要重点关注进度推进。</a:t>
            </a: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针对本地员工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英语学习困难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等客观问题，单点同步总部，推进本地化考察结合模式，完成整体赋能落地。</a:t>
            </a:r>
          </a:p>
        </p:txBody>
      </p:sp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F3CA34D-6462-4144-9349-F2D866F2AC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410090"/>
              </p:ext>
            </p:extLst>
          </p:nvPr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/>
              <a:tblGrid>
                <a:gridCol w="1574119">
                  <a:extLst>
                    <a:ext uri="{9D8B030D-6E8A-4147-A177-3AD203B41FA5}">
                      <a16:colId xmlns:a16="http://schemas.microsoft.com/office/drawing/2014/main" val="1407148624"/>
                    </a:ext>
                  </a:extLst>
                </a:gridCol>
                <a:gridCol w="1574119">
                  <a:extLst>
                    <a:ext uri="{9D8B030D-6E8A-4147-A177-3AD203B41FA5}">
                      <a16:colId xmlns:a16="http://schemas.microsoft.com/office/drawing/2014/main" val="2494048927"/>
                    </a:ext>
                  </a:extLst>
                </a:gridCol>
                <a:gridCol w="1574119">
                  <a:extLst>
                    <a:ext uri="{9D8B030D-6E8A-4147-A177-3AD203B41FA5}">
                      <a16:colId xmlns:a16="http://schemas.microsoft.com/office/drawing/2014/main" val="429297324"/>
                    </a:ext>
                  </a:extLst>
                </a:gridCol>
                <a:gridCol w="1797116">
                  <a:extLst>
                    <a:ext uri="{9D8B030D-6E8A-4147-A177-3AD203B41FA5}">
                      <a16:colId xmlns:a16="http://schemas.microsoft.com/office/drawing/2014/main" val="2187344429"/>
                    </a:ext>
                  </a:extLst>
                </a:gridCol>
              </a:tblGrid>
              <a:tr h="547347">
                <a:tc>
                  <a:txBody>
                    <a:bodyPr/>
                    <a:lstStyle/>
                    <a:p>
                      <a:pPr algn="ctr" fontAlgn="ctr"/>
                      <a:r>
                        <a:rPr lang="zh-CN" sz="7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小组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7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学员数量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学习完成率</a:t>
                      </a:r>
                      <a:r>
                        <a:rPr lang="en-US" altLang="zh-C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包含考试通过</a:t>
                      </a:r>
                      <a:r>
                        <a:rPr lang="en-US" altLang="zh-C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  <a:p>
                      <a:pPr algn="ctr" fontAlgn="ctr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本轮</a:t>
                      </a:r>
                      <a:endParaRPr lang="zh-CN" sz="7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学习完成率</a:t>
                      </a:r>
                      <a:r>
                        <a:rPr lang="en-US" altLang="zh-C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</a:t>
                      </a:r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包含考试通过</a:t>
                      </a:r>
                      <a:r>
                        <a:rPr lang="en-US" altLang="zh-C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</a:t>
                      </a:r>
                    </a:p>
                    <a:p>
                      <a:pPr algn="ctr" fontAlgn="ctr"/>
                      <a:r>
                        <a:rPr lang="zh-CN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上一轮</a:t>
                      </a:r>
                      <a:endParaRPr lang="en-US" altLang="zh-CN" sz="7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C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5420740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非洲区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100%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97.64%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46102552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中东北非区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131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74.33%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58.40%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08977175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欧亚区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52.59%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31.25%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76525713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大洋洲区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47.50%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31.25%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4148676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英国区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40.38%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38.46%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6017060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南洋区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39.42%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37.74%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6839178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东北欧区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62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1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32.66%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17.74%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25238958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拉美区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28.43%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21.08%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9744243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东南亚区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67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27.99%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27.05%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2040539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巴西区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27.98%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23.21%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2756445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墨西哥区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21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14.29%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13.69%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3233057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西欧区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11.48%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10.66%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2026706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国际合作部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8.78%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0" i="0" u="none" strike="noStrike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8.78%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488492"/>
                  </a:ext>
                </a:extLst>
              </a:tr>
              <a:tr h="273673">
                <a:tc>
                  <a:txBody>
                    <a:bodyPr/>
                    <a:lstStyle/>
                    <a:p>
                      <a:pPr algn="ctr" fontAlgn="t"/>
                      <a:r>
                        <a:rPr lang="zh-C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总计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612</a:t>
                      </a: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1" i="0" u="none" strike="noStrike" kern="12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42.24%</a:t>
                      </a:r>
                      <a:endParaRPr lang="zh-CN" altLang="en-US" sz="700" b="1" i="0" u="none" strike="noStrike" kern="12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1" i="0" u="none" strike="noStrike" kern="1200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34.52%</a:t>
                      </a:r>
                      <a:endParaRPr lang="zh-CN" altLang="en-US" sz="700" b="1" i="0" u="none" strike="noStrike" kern="1200" dirty="0">
                        <a:solidFill>
                          <a:srgbClr val="FF0000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6350" marR="6350" marT="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58369918"/>
                  </a:ext>
                </a:extLst>
              </a:tr>
            </a:tbl>
          </a:graphicData>
        </a:graphic>
      </p:graphicFrame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